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nter" charset="1" panose="02000503000000020004"/>
      <p:regular r:id="rId16"/>
    </p:embeddedFont>
    <p:embeddedFont>
      <p:font typeface="Inter Bold" charset="1" panose="02000503000000020004"/>
      <p:regular r:id="rId17"/>
    </p:embeddedFont>
    <p:embeddedFont>
      <p:font typeface="Inter Semi-Bold" charset="1" panose="0200050300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028700" y="2916010"/>
            <a:ext cx="10196928" cy="2701004"/>
          </a:xfrm>
          <a:prstGeom prst="rect">
            <a:avLst/>
          </a:prstGeom>
        </p:spPr>
        <p:txBody>
          <a:bodyPr anchor="t" rtlCol="false" tIns="0" lIns="0" bIns="0" rIns="0">
            <a:spAutoFit/>
          </a:bodyPr>
          <a:lstStyle/>
          <a:p>
            <a:pPr algn="l" marL="0" indent="0" lvl="0">
              <a:lnSpc>
                <a:spcPts val="7070"/>
              </a:lnSpc>
            </a:pPr>
            <a:r>
              <a:rPr lang="en-US" sz="6427" spc="-385">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Customer Shopping Behaviour Analysis - Retail Analytics Report 2026</a:t>
            </a:r>
          </a:p>
        </p:txBody>
      </p:sp>
      <p:sp>
        <p:nvSpPr>
          <p:cNvPr name="TextBox 4" id="4"/>
          <p:cNvSpPr txBox="true"/>
          <p:nvPr/>
        </p:nvSpPr>
        <p:spPr>
          <a:xfrm rot="0">
            <a:off x="1028700" y="5937997"/>
            <a:ext cx="5312332" cy="727748"/>
          </a:xfrm>
          <a:prstGeom prst="rect">
            <a:avLst/>
          </a:prstGeom>
        </p:spPr>
        <p:txBody>
          <a:bodyPr anchor="t" rtlCol="false" tIns="0" lIns="0" bIns="0" rIns="0">
            <a:spAutoFit/>
          </a:bodyPr>
          <a:lstStyle/>
          <a:p>
            <a:pPr algn="l" marL="0" indent="0" lvl="0">
              <a:lnSpc>
                <a:spcPts val="2937"/>
              </a:lnSpc>
            </a:pPr>
            <a:r>
              <a:rPr lang="en-US" sz="2098">
                <a:solidFill>
                  <a:srgbClr val="F8F8F8"/>
                </a:solidFill>
                <a:latin typeface="Inter"/>
                <a:ea typeface="Inter"/>
                <a:cs typeface="Inter"/>
                <a:sym typeface="Inter"/>
              </a:rPr>
              <a:t>Insights from 3,900 Customers Across Multiple Dimensions</a:t>
            </a:r>
          </a:p>
        </p:txBody>
      </p:sp>
      <p:sp>
        <p:nvSpPr>
          <p:cNvPr name="TextBox 5" id="5"/>
          <p:cNvSpPr txBox="true"/>
          <p:nvPr/>
        </p:nvSpPr>
        <p:spPr>
          <a:xfrm rot="0">
            <a:off x="1028700" y="8637270"/>
            <a:ext cx="1871952" cy="273713"/>
          </a:xfrm>
          <a:prstGeom prst="rect">
            <a:avLst/>
          </a:prstGeom>
        </p:spPr>
        <p:txBody>
          <a:bodyPr anchor="t" rtlCol="false" tIns="0" lIns="0" bIns="0" rIns="0">
            <a:spAutoFit/>
          </a:bodyPr>
          <a:lstStyle/>
          <a:p>
            <a:pPr algn="l" marL="0" indent="0" lvl="0">
              <a:lnSpc>
                <a:spcPts val="2238"/>
              </a:lnSpc>
            </a:pPr>
            <a:r>
              <a:rPr lang="en-US" sz="1598">
                <a:solidFill>
                  <a:srgbClr val="F8F8F8"/>
                </a:solidFill>
                <a:latin typeface="Inter"/>
                <a:ea typeface="Inter"/>
                <a:cs typeface="Inter"/>
                <a:sym typeface="Inter"/>
              </a:rPr>
              <a:t>Prepared by</a:t>
            </a:r>
          </a:p>
        </p:txBody>
      </p:sp>
      <p:sp>
        <p:nvSpPr>
          <p:cNvPr name="TextBox 6" id="6"/>
          <p:cNvSpPr txBox="true"/>
          <p:nvPr/>
        </p:nvSpPr>
        <p:spPr>
          <a:xfrm rot="0">
            <a:off x="1028700" y="8951595"/>
            <a:ext cx="3962963" cy="306737"/>
          </a:xfrm>
          <a:prstGeom prst="rect">
            <a:avLst/>
          </a:prstGeom>
        </p:spPr>
        <p:txBody>
          <a:bodyPr anchor="t" rtlCol="false" tIns="0" lIns="0" bIns="0" rIns="0">
            <a:spAutoFit/>
          </a:bodyPr>
          <a:lstStyle/>
          <a:p>
            <a:pPr algn="l" marL="0" indent="0" lvl="0">
              <a:lnSpc>
                <a:spcPts val="2518"/>
              </a:lnSpc>
            </a:pPr>
            <a:r>
              <a:rPr lang="en-US" b="true" sz="1798">
                <a:solidFill>
                  <a:srgbClr val="F8F8F8"/>
                </a:solidFill>
                <a:latin typeface="Inter Bold"/>
                <a:ea typeface="Inter Bold"/>
                <a:cs typeface="Inter Bold"/>
                <a:sym typeface="Inter Bold"/>
              </a:rPr>
              <a:t>Yashraj Somnath Kakade</a:t>
            </a:r>
          </a:p>
        </p:txBody>
      </p:sp>
      <p:sp>
        <p:nvSpPr>
          <p:cNvPr name="TextBox 7" id="7"/>
          <p:cNvSpPr txBox="true"/>
          <p:nvPr/>
        </p:nvSpPr>
        <p:spPr>
          <a:xfrm rot="0">
            <a:off x="15143097" y="8984587"/>
            <a:ext cx="2116203" cy="273713"/>
          </a:xfrm>
          <a:prstGeom prst="rect">
            <a:avLst/>
          </a:prstGeom>
        </p:spPr>
        <p:txBody>
          <a:bodyPr anchor="t" rtlCol="false" tIns="0" lIns="0" bIns="0" rIns="0">
            <a:spAutoFit/>
          </a:bodyPr>
          <a:lstStyle/>
          <a:p>
            <a:pPr algn="r" marL="0" indent="0" lvl="0">
              <a:lnSpc>
                <a:spcPts val="2238"/>
              </a:lnSpc>
            </a:pPr>
            <a:r>
              <a:rPr lang="en-US" sz="1598">
                <a:solidFill>
                  <a:srgbClr val="F8F8F8"/>
                </a:solidFill>
                <a:latin typeface="Inter"/>
                <a:ea typeface="Inter"/>
                <a:cs typeface="Inter"/>
                <a:sym typeface="Inter"/>
              </a:rPr>
              <a:t>2026</a:t>
            </a:r>
          </a:p>
        </p:txBody>
      </p:sp>
      <p:grpSp>
        <p:nvGrpSpPr>
          <p:cNvPr name="Group 8" id="8"/>
          <p:cNvGrpSpPr/>
          <p:nvPr/>
        </p:nvGrpSpPr>
        <p:grpSpPr>
          <a:xfrm rot="0">
            <a:off x="11547195" y="1028700"/>
            <a:ext cx="5712105" cy="7197253"/>
            <a:chOff x="0" y="0"/>
            <a:chExt cx="908944" cy="1145270"/>
          </a:xfrm>
        </p:grpSpPr>
        <p:sp>
          <p:nvSpPr>
            <p:cNvPr name="Freeform 9" id="9"/>
            <p:cNvSpPr/>
            <p:nvPr/>
          </p:nvSpPr>
          <p:spPr>
            <a:xfrm flipH="false" flipV="false" rot="0">
              <a:off x="0" y="0"/>
              <a:ext cx="908944" cy="1145270"/>
            </a:xfrm>
            <a:custGeom>
              <a:avLst/>
              <a:gdLst/>
              <a:ahLst/>
              <a:cxnLst/>
              <a:rect r="r" b="b" t="t" l="l"/>
              <a:pathLst>
                <a:path h="1145270" w="908944">
                  <a:moveTo>
                    <a:pt x="67768" y="0"/>
                  </a:moveTo>
                  <a:lnTo>
                    <a:pt x="841176" y="0"/>
                  </a:lnTo>
                  <a:cubicBezTo>
                    <a:pt x="859150" y="0"/>
                    <a:pt x="876387" y="7140"/>
                    <a:pt x="889095" y="19849"/>
                  </a:cubicBezTo>
                  <a:cubicBezTo>
                    <a:pt x="901804" y="32558"/>
                    <a:pt x="908944" y="49795"/>
                    <a:pt x="908944" y="67768"/>
                  </a:cubicBezTo>
                  <a:lnTo>
                    <a:pt x="908944" y="1077502"/>
                  </a:lnTo>
                  <a:cubicBezTo>
                    <a:pt x="908944" y="1095475"/>
                    <a:pt x="901804" y="1112712"/>
                    <a:pt x="889095" y="1125421"/>
                  </a:cubicBezTo>
                  <a:cubicBezTo>
                    <a:pt x="876387" y="1138130"/>
                    <a:pt x="859150" y="1145270"/>
                    <a:pt x="841176" y="1145270"/>
                  </a:cubicBezTo>
                  <a:lnTo>
                    <a:pt x="67768" y="1145270"/>
                  </a:lnTo>
                  <a:cubicBezTo>
                    <a:pt x="49795" y="1145270"/>
                    <a:pt x="32558" y="1138130"/>
                    <a:pt x="19849" y="1125421"/>
                  </a:cubicBezTo>
                  <a:cubicBezTo>
                    <a:pt x="7140" y="1112712"/>
                    <a:pt x="0" y="1095475"/>
                    <a:pt x="0" y="1077502"/>
                  </a:cubicBezTo>
                  <a:lnTo>
                    <a:pt x="0" y="67768"/>
                  </a:lnTo>
                  <a:cubicBezTo>
                    <a:pt x="0" y="49795"/>
                    <a:pt x="7140" y="32558"/>
                    <a:pt x="19849" y="19849"/>
                  </a:cubicBezTo>
                  <a:cubicBezTo>
                    <a:pt x="32558" y="7140"/>
                    <a:pt x="49795" y="0"/>
                    <a:pt x="67768" y="0"/>
                  </a:cubicBezTo>
                  <a:close/>
                </a:path>
              </a:pathLst>
            </a:custGeom>
            <a:blipFill>
              <a:blip r:embed="rId3"/>
              <a:stretch>
                <a:fillRect l="-951" t="0" r="-951"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grpSp>
        <p:nvGrpSpPr>
          <p:cNvPr name="Group 2" id="2"/>
          <p:cNvGrpSpPr/>
          <p:nvPr/>
        </p:nvGrpSpPr>
        <p:grpSpPr>
          <a:xfrm rot="0">
            <a:off x="1028700" y="4980203"/>
            <a:ext cx="1627286" cy="162728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grpSp>
        <p:nvGrpSpPr>
          <p:cNvPr name="Group 5" id="5"/>
          <p:cNvGrpSpPr/>
          <p:nvPr/>
        </p:nvGrpSpPr>
        <p:grpSpPr>
          <a:xfrm rot="0">
            <a:off x="7145733" y="4980203"/>
            <a:ext cx="1627286" cy="162728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grpSp>
        <p:nvGrpSpPr>
          <p:cNvPr name="Group 8" id="8"/>
          <p:cNvGrpSpPr/>
          <p:nvPr/>
        </p:nvGrpSpPr>
        <p:grpSpPr>
          <a:xfrm rot="0">
            <a:off x="12643055" y="4980203"/>
            <a:ext cx="1627286" cy="162728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sp>
        <p:nvSpPr>
          <p:cNvPr name="Freeform 11" id="11"/>
          <p:cNvSpPr/>
          <p:nvPr/>
        </p:nvSpPr>
        <p:spPr>
          <a:xfrm flipH="false" flipV="false" rot="0">
            <a:off x="1453074" y="5422027"/>
            <a:ext cx="710616" cy="842212"/>
          </a:xfrm>
          <a:custGeom>
            <a:avLst/>
            <a:gdLst/>
            <a:ahLst/>
            <a:cxnLst/>
            <a:rect r="r" b="b" t="t" l="l"/>
            <a:pathLst>
              <a:path h="842212" w="710616">
                <a:moveTo>
                  <a:pt x="0" y="0"/>
                </a:moveTo>
                <a:lnTo>
                  <a:pt x="710616" y="0"/>
                </a:lnTo>
                <a:lnTo>
                  <a:pt x="710616" y="842212"/>
                </a:lnTo>
                <a:lnTo>
                  <a:pt x="0" y="842212"/>
                </a:lnTo>
                <a:lnTo>
                  <a:pt x="0" y="0"/>
                </a:lnTo>
                <a:close/>
              </a:path>
            </a:pathLst>
          </a:custGeom>
          <a:blipFill>
            <a:blip r:embed="rId2"/>
            <a:stretch>
              <a:fillRect l="0" t="0" r="0" b="0"/>
            </a:stretch>
          </a:blipFill>
        </p:spPr>
      </p:sp>
      <p:sp>
        <p:nvSpPr>
          <p:cNvPr name="Freeform 12" id="12"/>
          <p:cNvSpPr/>
          <p:nvPr/>
        </p:nvSpPr>
        <p:spPr>
          <a:xfrm flipH="false" flipV="false" rot="0">
            <a:off x="12992450" y="5475066"/>
            <a:ext cx="810998" cy="729612"/>
          </a:xfrm>
          <a:custGeom>
            <a:avLst/>
            <a:gdLst/>
            <a:ahLst/>
            <a:cxnLst/>
            <a:rect r="r" b="b" t="t" l="l"/>
            <a:pathLst>
              <a:path h="729612" w="810998">
                <a:moveTo>
                  <a:pt x="0" y="0"/>
                </a:moveTo>
                <a:lnTo>
                  <a:pt x="810997" y="0"/>
                </a:lnTo>
                <a:lnTo>
                  <a:pt x="810997" y="729612"/>
                </a:lnTo>
                <a:lnTo>
                  <a:pt x="0" y="729612"/>
                </a:lnTo>
                <a:lnTo>
                  <a:pt x="0" y="0"/>
                </a:lnTo>
                <a:close/>
              </a:path>
            </a:pathLst>
          </a:custGeom>
          <a:blipFill>
            <a:blip r:embed="rId3"/>
            <a:stretch>
              <a:fillRect l="0" t="0" r="0" b="0"/>
            </a:stretch>
          </a:blipFill>
        </p:spPr>
      </p:sp>
      <p:sp>
        <p:nvSpPr>
          <p:cNvPr name="Freeform 13" id="13"/>
          <p:cNvSpPr/>
          <p:nvPr/>
        </p:nvSpPr>
        <p:spPr>
          <a:xfrm flipH="false" flipV="false" rot="0">
            <a:off x="7659764" y="5542797"/>
            <a:ext cx="608982" cy="608982"/>
          </a:xfrm>
          <a:custGeom>
            <a:avLst/>
            <a:gdLst/>
            <a:ahLst/>
            <a:cxnLst/>
            <a:rect r="r" b="b" t="t" l="l"/>
            <a:pathLst>
              <a:path h="608982" w="608982">
                <a:moveTo>
                  <a:pt x="0" y="0"/>
                </a:moveTo>
                <a:lnTo>
                  <a:pt x="608982" y="0"/>
                </a:lnTo>
                <a:lnTo>
                  <a:pt x="608982" y="608982"/>
                </a:lnTo>
                <a:lnTo>
                  <a:pt x="0" y="608982"/>
                </a:lnTo>
                <a:lnTo>
                  <a:pt x="0" y="0"/>
                </a:lnTo>
                <a:close/>
              </a:path>
            </a:pathLst>
          </a:custGeom>
          <a:blipFill>
            <a:blip r:embed="rId4"/>
            <a:stretch>
              <a:fillRect l="0" t="0" r="0" b="0"/>
            </a:stretch>
          </a:blipFill>
        </p:spPr>
      </p:sp>
      <p:sp>
        <p:nvSpPr>
          <p:cNvPr name="TextBox 14" id="14"/>
          <p:cNvSpPr txBox="true"/>
          <p:nvPr/>
        </p:nvSpPr>
        <p:spPr>
          <a:xfrm rot="0">
            <a:off x="1028700" y="2233044"/>
            <a:ext cx="5651219" cy="1795723"/>
          </a:xfrm>
          <a:prstGeom prst="rect">
            <a:avLst/>
          </a:prstGeom>
        </p:spPr>
        <p:txBody>
          <a:bodyPr anchor="t" rtlCol="false" tIns="0" lIns="0" bIns="0" rIns="0">
            <a:spAutoFit/>
          </a:bodyPr>
          <a:lstStyle/>
          <a:p>
            <a:pPr algn="l" marL="0" indent="0" lvl="0">
              <a:lnSpc>
                <a:spcPts val="7035"/>
              </a:lnSpc>
            </a:pPr>
            <a:r>
              <a:rPr lang="en-US" sz="6395" spc="-383">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Project Overview</a:t>
            </a:r>
          </a:p>
        </p:txBody>
      </p:sp>
      <p:sp>
        <p:nvSpPr>
          <p:cNvPr name="TextBox 15" id="15"/>
          <p:cNvSpPr txBox="true"/>
          <p:nvPr/>
        </p:nvSpPr>
        <p:spPr>
          <a:xfrm rot="0">
            <a:off x="10073870" y="2344166"/>
            <a:ext cx="7185430" cy="461010"/>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F8F8F8"/>
                </a:solidFill>
                <a:latin typeface="Inter"/>
                <a:ea typeface="Inter"/>
                <a:cs typeface="Inter"/>
                <a:sym typeface="Inter"/>
              </a:rPr>
              <a:t>This page summarizes the purpose and scope of the Customer Shopping Behaviour Analysis project, covering 3,900 transactions across 18 features in the retail domain.</a:t>
            </a:r>
          </a:p>
        </p:txBody>
      </p:sp>
      <p:sp>
        <p:nvSpPr>
          <p:cNvPr name="TextBox 16" id="16"/>
          <p:cNvSpPr txBox="true"/>
          <p:nvPr/>
        </p:nvSpPr>
        <p:spPr>
          <a:xfrm rot="0">
            <a:off x="1028700" y="7027907"/>
            <a:ext cx="3575750" cy="794970"/>
          </a:xfrm>
          <a:prstGeom prst="rect">
            <a:avLst/>
          </a:prstGeom>
        </p:spPr>
        <p:txBody>
          <a:bodyPr anchor="t" rtlCol="false" tIns="0" lIns="0" bIns="0" rIns="0">
            <a:spAutoFit/>
          </a:bodyPr>
          <a:lstStyle/>
          <a:p>
            <a:pPr algn="l" marL="0" indent="0" lvl="0">
              <a:lnSpc>
                <a:spcPts val="6155"/>
              </a:lnSpc>
            </a:pPr>
            <a:r>
              <a:rPr lang="en-US" b="true" sz="5596" spc="-335">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3,900</a:t>
            </a:r>
          </a:p>
        </p:txBody>
      </p:sp>
      <p:sp>
        <p:nvSpPr>
          <p:cNvPr name="TextBox 17" id="17"/>
          <p:cNvSpPr txBox="true"/>
          <p:nvPr/>
        </p:nvSpPr>
        <p:spPr>
          <a:xfrm rot="0">
            <a:off x="7145733" y="7027907"/>
            <a:ext cx="3575750" cy="794970"/>
          </a:xfrm>
          <a:prstGeom prst="rect">
            <a:avLst/>
          </a:prstGeom>
        </p:spPr>
        <p:txBody>
          <a:bodyPr anchor="t" rtlCol="false" tIns="0" lIns="0" bIns="0" rIns="0">
            <a:spAutoFit/>
          </a:bodyPr>
          <a:lstStyle/>
          <a:p>
            <a:pPr algn="l" marL="0" indent="0" lvl="0">
              <a:lnSpc>
                <a:spcPts val="6155"/>
              </a:lnSpc>
            </a:pPr>
            <a:r>
              <a:rPr lang="en-US" b="true" sz="5596" spc="-335">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18</a:t>
            </a:r>
          </a:p>
        </p:txBody>
      </p:sp>
      <p:sp>
        <p:nvSpPr>
          <p:cNvPr name="TextBox 18" id="18"/>
          <p:cNvSpPr txBox="true"/>
          <p:nvPr/>
        </p:nvSpPr>
        <p:spPr>
          <a:xfrm rot="0">
            <a:off x="12643055" y="7027907"/>
            <a:ext cx="4584849" cy="794970"/>
          </a:xfrm>
          <a:prstGeom prst="rect">
            <a:avLst/>
          </a:prstGeom>
        </p:spPr>
        <p:txBody>
          <a:bodyPr anchor="t" rtlCol="false" tIns="0" lIns="0" bIns="0" rIns="0">
            <a:spAutoFit/>
          </a:bodyPr>
          <a:lstStyle/>
          <a:p>
            <a:pPr algn="l" marL="0" indent="0" lvl="0">
              <a:lnSpc>
                <a:spcPts val="6155"/>
              </a:lnSpc>
            </a:pPr>
            <a:r>
              <a:rPr lang="en-US" b="true" sz="5596" spc="-335">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Power BI</a:t>
            </a:r>
          </a:p>
        </p:txBody>
      </p:sp>
      <p:sp>
        <p:nvSpPr>
          <p:cNvPr name="TextBox 19" id="19"/>
          <p:cNvSpPr txBox="true"/>
          <p:nvPr/>
        </p:nvSpPr>
        <p:spPr>
          <a:xfrm rot="0">
            <a:off x="1028700" y="8057378"/>
            <a:ext cx="3028871" cy="459711"/>
          </a:xfrm>
          <a:prstGeom prst="rect">
            <a:avLst/>
          </a:prstGeom>
        </p:spPr>
        <p:txBody>
          <a:bodyPr anchor="t" rtlCol="false" tIns="0" lIns="0" bIns="0" rIns="0">
            <a:spAutoFit/>
          </a:bodyPr>
          <a:lstStyle/>
          <a:p>
            <a:pPr algn="l" marL="0" indent="0" lvl="0">
              <a:lnSpc>
                <a:spcPts val="3517"/>
              </a:lnSpc>
            </a:pPr>
            <a:r>
              <a:rPr lang="en-US" sz="3197" spc="-95">
                <a:solidFill>
                  <a:srgbClr val="F8F8F8"/>
                </a:solidFill>
                <a:latin typeface="Inter"/>
                <a:ea typeface="Inter"/>
                <a:cs typeface="Inter"/>
                <a:sym typeface="Inter"/>
              </a:rPr>
              <a:t>Transactions</a:t>
            </a:r>
          </a:p>
        </p:txBody>
      </p:sp>
      <p:sp>
        <p:nvSpPr>
          <p:cNvPr name="TextBox 20" id="20"/>
          <p:cNvSpPr txBox="true"/>
          <p:nvPr/>
        </p:nvSpPr>
        <p:spPr>
          <a:xfrm rot="0">
            <a:off x="7145733" y="8057378"/>
            <a:ext cx="3575750" cy="459711"/>
          </a:xfrm>
          <a:prstGeom prst="rect">
            <a:avLst/>
          </a:prstGeom>
        </p:spPr>
        <p:txBody>
          <a:bodyPr anchor="t" rtlCol="false" tIns="0" lIns="0" bIns="0" rIns="0">
            <a:spAutoFit/>
          </a:bodyPr>
          <a:lstStyle/>
          <a:p>
            <a:pPr algn="l" marL="0" indent="0" lvl="0">
              <a:lnSpc>
                <a:spcPts val="3517"/>
              </a:lnSpc>
            </a:pPr>
            <a:r>
              <a:rPr lang="en-US" sz="3197" spc="-95">
                <a:solidFill>
                  <a:srgbClr val="F8F8F8"/>
                </a:solidFill>
                <a:latin typeface="Inter"/>
                <a:ea typeface="Inter"/>
                <a:cs typeface="Inter"/>
                <a:sym typeface="Inter"/>
              </a:rPr>
              <a:t>Features</a:t>
            </a:r>
          </a:p>
        </p:txBody>
      </p:sp>
      <p:sp>
        <p:nvSpPr>
          <p:cNvPr name="TextBox 21" id="21"/>
          <p:cNvSpPr txBox="true"/>
          <p:nvPr/>
        </p:nvSpPr>
        <p:spPr>
          <a:xfrm rot="0">
            <a:off x="12643055" y="8057378"/>
            <a:ext cx="3575750" cy="459711"/>
          </a:xfrm>
          <a:prstGeom prst="rect">
            <a:avLst/>
          </a:prstGeom>
        </p:spPr>
        <p:txBody>
          <a:bodyPr anchor="t" rtlCol="false" tIns="0" lIns="0" bIns="0" rIns="0">
            <a:spAutoFit/>
          </a:bodyPr>
          <a:lstStyle/>
          <a:p>
            <a:pPr algn="l" marL="0" indent="0" lvl="0">
              <a:lnSpc>
                <a:spcPts val="3517"/>
              </a:lnSpc>
            </a:pPr>
            <a:r>
              <a:rPr lang="en-US" sz="3197" spc="-95">
                <a:solidFill>
                  <a:srgbClr val="F8F8F8"/>
                </a:solidFill>
                <a:latin typeface="Inter"/>
                <a:ea typeface="Inter"/>
                <a:cs typeface="Inter"/>
                <a:sym typeface="Inter"/>
              </a:rPr>
              <a:t>Dashboard</a:t>
            </a:r>
          </a:p>
        </p:txBody>
      </p:sp>
      <p:sp>
        <p:nvSpPr>
          <p:cNvPr name="TextBox 22" id="22"/>
          <p:cNvSpPr txBox="true"/>
          <p:nvPr/>
        </p:nvSpPr>
        <p:spPr>
          <a:xfrm rot="0">
            <a:off x="1028700" y="8656320"/>
            <a:ext cx="3485075" cy="699135"/>
          </a:xfrm>
          <a:prstGeom prst="rect">
            <a:avLst/>
          </a:prstGeom>
        </p:spPr>
        <p:txBody>
          <a:bodyPr anchor="t" rtlCol="false" tIns="0" lIns="0" bIns="0" rIns="0">
            <a:spAutoFit/>
          </a:bodyPr>
          <a:lstStyle/>
          <a:p>
            <a:pPr algn="l" marL="0" indent="0" lvl="0">
              <a:lnSpc>
                <a:spcPts val="1889"/>
              </a:lnSpc>
            </a:pPr>
            <a:r>
              <a:rPr lang="en-US" sz="1349">
                <a:solidFill>
                  <a:srgbClr val="F8F8F8"/>
                </a:solidFill>
                <a:latin typeface="Inter"/>
                <a:ea typeface="Inter"/>
                <a:cs typeface="Inter"/>
                <a:sym typeface="Inter"/>
              </a:rPr>
              <a:t>Retail dataset covering demographics, payment methods, purchase patterns, discounts, and seasonality.</a:t>
            </a:r>
          </a:p>
        </p:txBody>
      </p:sp>
      <p:sp>
        <p:nvSpPr>
          <p:cNvPr name="TextBox 23" id="23"/>
          <p:cNvSpPr txBox="true"/>
          <p:nvPr/>
        </p:nvSpPr>
        <p:spPr>
          <a:xfrm rot="0">
            <a:off x="7145733" y="8656320"/>
            <a:ext cx="2947792" cy="699135"/>
          </a:xfrm>
          <a:prstGeom prst="rect">
            <a:avLst/>
          </a:prstGeom>
        </p:spPr>
        <p:txBody>
          <a:bodyPr anchor="t" rtlCol="false" tIns="0" lIns="0" bIns="0" rIns="0">
            <a:spAutoFit/>
          </a:bodyPr>
          <a:lstStyle/>
          <a:p>
            <a:pPr algn="l" marL="0" indent="0" lvl="0">
              <a:lnSpc>
                <a:spcPts val="1889"/>
              </a:lnSpc>
            </a:pPr>
            <a:r>
              <a:rPr lang="en-US" sz="1349">
                <a:solidFill>
                  <a:srgbClr val="F8F8F8"/>
                </a:solidFill>
                <a:latin typeface="Inter"/>
                <a:ea typeface="Inter"/>
                <a:cs typeface="Inter"/>
                <a:sym typeface="Inter"/>
              </a:rPr>
              <a:t>Dataset attributes including age, gender, category, season, review rating, and more.</a:t>
            </a:r>
          </a:p>
        </p:txBody>
      </p:sp>
      <p:sp>
        <p:nvSpPr>
          <p:cNvPr name="TextBox 24" id="24"/>
          <p:cNvSpPr txBox="true"/>
          <p:nvPr/>
        </p:nvSpPr>
        <p:spPr>
          <a:xfrm rot="0">
            <a:off x="12643055" y="8656320"/>
            <a:ext cx="2947792" cy="699135"/>
          </a:xfrm>
          <a:prstGeom prst="rect">
            <a:avLst/>
          </a:prstGeom>
        </p:spPr>
        <p:txBody>
          <a:bodyPr anchor="t" rtlCol="false" tIns="0" lIns="0" bIns="0" rIns="0">
            <a:spAutoFit/>
          </a:bodyPr>
          <a:lstStyle/>
          <a:p>
            <a:pPr algn="l" marL="0" indent="0" lvl="0">
              <a:lnSpc>
                <a:spcPts val="1889"/>
              </a:lnSpc>
            </a:pPr>
            <a:r>
              <a:rPr lang="en-US" sz="1349">
                <a:solidFill>
                  <a:srgbClr val="F8F8F8"/>
                </a:solidFill>
                <a:latin typeface="Inter"/>
                <a:ea typeface="Inter"/>
                <a:cs typeface="Inter"/>
                <a:sym typeface="Inter"/>
              </a:rPr>
              <a:t>Interactive Power BI dashboard built for data-driven retail decision-making and insights visualization.</a:t>
            </a:r>
          </a:p>
        </p:txBody>
      </p:sp>
      <p:sp>
        <p:nvSpPr>
          <p:cNvPr name="TextBox 25" id="25"/>
          <p:cNvSpPr txBox="true"/>
          <p:nvPr/>
        </p:nvSpPr>
        <p:spPr>
          <a:xfrm rot="0">
            <a:off x="14935479" y="1066800"/>
            <a:ext cx="2323821" cy="207645"/>
          </a:xfrm>
          <a:prstGeom prst="rect">
            <a:avLst/>
          </a:prstGeom>
        </p:spPr>
        <p:txBody>
          <a:bodyPr anchor="t" rtlCol="false" tIns="0" lIns="0" bIns="0" rIns="0">
            <a:spAutoFit/>
          </a:bodyPr>
          <a:lstStyle/>
          <a:p>
            <a:pPr algn="r" marL="0" indent="0" lvl="0">
              <a:lnSpc>
                <a:spcPts val="1679"/>
              </a:lnSpc>
            </a:pPr>
            <a:r>
              <a:rPr lang="en-US" sz="1200">
                <a:solidFill>
                  <a:srgbClr val="F8F8F8"/>
                </a:solidFill>
                <a:latin typeface="Inter"/>
                <a:ea typeface="Inter"/>
                <a:cs typeface="Inter"/>
                <a:sym typeface="Inter"/>
              </a:rPr>
              <a:t>2026</a:t>
            </a:r>
          </a:p>
        </p:txBody>
      </p:sp>
      <p:sp>
        <p:nvSpPr>
          <p:cNvPr name="TextBox 26" id="26"/>
          <p:cNvSpPr txBox="true"/>
          <p:nvPr/>
        </p:nvSpPr>
        <p:spPr>
          <a:xfrm rot="0">
            <a:off x="6755761" y="1066800"/>
            <a:ext cx="4776478" cy="207645"/>
          </a:xfrm>
          <a:prstGeom prst="rect">
            <a:avLst/>
          </a:prstGeom>
        </p:spPr>
        <p:txBody>
          <a:bodyPr anchor="t" rtlCol="false" tIns="0" lIns="0" bIns="0" rIns="0">
            <a:spAutoFit/>
          </a:bodyPr>
          <a:lstStyle/>
          <a:p>
            <a:pPr algn="ctr" marL="0" indent="0" lvl="0">
              <a:lnSpc>
                <a:spcPts val="1679"/>
              </a:lnSpc>
            </a:pPr>
            <a:r>
              <a:rPr lang="en-US" sz="1200">
                <a:solidFill>
                  <a:srgbClr val="F8F8F8">
                    <a:alpha val="69804"/>
                  </a:srgbClr>
                </a:solidFill>
                <a:latin typeface="Inter"/>
                <a:ea typeface="Inter"/>
                <a:cs typeface="Inter"/>
                <a:sym typeface="Inter"/>
              </a:rPr>
              <a:t>Customer Shopping Behaviour Analysis Report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TextBox 2" id="2"/>
          <p:cNvSpPr txBox="true"/>
          <p:nvPr/>
        </p:nvSpPr>
        <p:spPr>
          <a:xfrm rot="0">
            <a:off x="1028700" y="2250391"/>
            <a:ext cx="7540670" cy="909898"/>
          </a:xfrm>
          <a:prstGeom prst="rect">
            <a:avLst/>
          </a:prstGeom>
        </p:spPr>
        <p:txBody>
          <a:bodyPr anchor="t" rtlCol="false" tIns="0" lIns="0" bIns="0" rIns="0">
            <a:spAutoFit/>
          </a:bodyPr>
          <a:lstStyle/>
          <a:p>
            <a:pPr algn="l" marL="0" indent="0" lvl="0">
              <a:lnSpc>
                <a:spcPts val="7035"/>
              </a:lnSpc>
            </a:pPr>
            <a:r>
              <a:rPr lang="en-US" sz="6395" spc="-383">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Dataset Summary</a:t>
            </a:r>
          </a:p>
        </p:txBody>
      </p:sp>
      <p:grpSp>
        <p:nvGrpSpPr>
          <p:cNvPr name="Group 3" id="3"/>
          <p:cNvGrpSpPr/>
          <p:nvPr/>
        </p:nvGrpSpPr>
        <p:grpSpPr>
          <a:xfrm rot="0">
            <a:off x="1028700" y="5736482"/>
            <a:ext cx="16230600" cy="3521818"/>
            <a:chOff x="0" y="0"/>
            <a:chExt cx="5313391" cy="1152933"/>
          </a:xfrm>
        </p:grpSpPr>
        <p:sp>
          <p:nvSpPr>
            <p:cNvPr name="Freeform 4" id="4"/>
            <p:cNvSpPr/>
            <p:nvPr/>
          </p:nvSpPr>
          <p:spPr>
            <a:xfrm flipH="false" flipV="false" rot="0">
              <a:off x="0" y="0"/>
              <a:ext cx="5313392" cy="1152933"/>
            </a:xfrm>
            <a:custGeom>
              <a:avLst/>
              <a:gdLst/>
              <a:ahLst/>
              <a:cxnLst/>
              <a:rect r="r" b="b" t="t" l="l"/>
              <a:pathLst>
                <a:path h="1152933" w="5313392">
                  <a:moveTo>
                    <a:pt x="23850" y="0"/>
                  </a:moveTo>
                  <a:lnTo>
                    <a:pt x="5289542" y="0"/>
                  </a:lnTo>
                  <a:cubicBezTo>
                    <a:pt x="5295867" y="0"/>
                    <a:pt x="5301933" y="2513"/>
                    <a:pt x="5306406" y="6985"/>
                  </a:cubicBezTo>
                  <a:cubicBezTo>
                    <a:pt x="5310879" y="11458"/>
                    <a:pt x="5313392" y="17524"/>
                    <a:pt x="5313392" y="23850"/>
                  </a:cubicBezTo>
                  <a:lnTo>
                    <a:pt x="5313392" y="1129084"/>
                  </a:lnTo>
                  <a:cubicBezTo>
                    <a:pt x="5313392" y="1135409"/>
                    <a:pt x="5310879" y="1141475"/>
                    <a:pt x="5306406" y="1145948"/>
                  </a:cubicBezTo>
                  <a:cubicBezTo>
                    <a:pt x="5301933" y="1150421"/>
                    <a:pt x="5295867" y="1152933"/>
                    <a:pt x="5289542" y="1152933"/>
                  </a:cubicBezTo>
                  <a:lnTo>
                    <a:pt x="23850" y="1152933"/>
                  </a:lnTo>
                  <a:cubicBezTo>
                    <a:pt x="17524" y="1152933"/>
                    <a:pt x="11458" y="1150421"/>
                    <a:pt x="6985" y="1145948"/>
                  </a:cubicBezTo>
                  <a:cubicBezTo>
                    <a:pt x="2513" y="1141475"/>
                    <a:pt x="0" y="1135409"/>
                    <a:pt x="0" y="1129084"/>
                  </a:cubicBezTo>
                  <a:lnTo>
                    <a:pt x="0" y="23850"/>
                  </a:lnTo>
                  <a:cubicBezTo>
                    <a:pt x="0" y="17524"/>
                    <a:pt x="2513" y="11458"/>
                    <a:pt x="6985" y="6985"/>
                  </a:cubicBezTo>
                  <a:cubicBezTo>
                    <a:pt x="11458" y="2513"/>
                    <a:pt x="17524" y="0"/>
                    <a:pt x="23850"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5" id="5"/>
            <p:cNvSpPr txBox="true"/>
            <p:nvPr/>
          </p:nvSpPr>
          <p:spPr>
            <a:xfrm>
              <a:off x="0" y="-38100"/>
              <a:ext cx="5313391" cy="1191033"/>
            </a:xfrm>
            <a:prstGeom prst="rect">
              <a:avLst/>
            </a:prstGeom>
          </p:spPr>
          <p:txBody>
            <a:bodyPr anchor="ctr" rtlCol="false" tIns="50800" lIns="50800" bIns="50800" rIns="50800"/>
            <a:lstStyle/>
            <a:p>
              <a:pPr algn="ctr" marL="0" indent="0" lvl="0">
                <a:lnSpc>
                  <a:spcPts val="2520"/>
                </a:lnSpc>
              </a:pPr>
            </a:p>
          </p:txBody>
        </p:sp>
      </p:grpSp>
      <p:sp>
        <p:nvSpPr>
          <p:cNvPr name="TextBox 6" id="6"/>
          <p:cNvSpPr txBox="true"/>
          <p:nvPr/>
        </p:nvSpPr>
        <p:spPr>
          <a:xfrm rot="0">
            <a:off x="1820414" y="6431341"/>
            <a:ext cx="3069361" cy="512413"/>
          </a:xfrm>
          <a:prstGeom prst="rect">
            <a:avLst/>
          </a:prstGeom>
        </p:spPr>
        <p:txBody>
          <a:bodyPr anchor="t" rtlCol="false" tIns="0" lIns="0" bIns="0" rIns="0">
            <a:spAutoFit/>
          </a:bodyPr>
          <a:lstStyle/>
          <a:p>
            <a:pPr algn="l" marL="0" indent="0" lvl="0">
              <a:lnSpc>
                <a:spcPts val="3957"/>
              </a:lnSpc>
            </a:pPr>
            <a:r>
              <a:rPr lang="en-US" b="true" sz="3597" spc="-107">
                <a:solidFill>
                  <a:srgbClr val="111111"/>
                </a:solidFill>
                <a:latin typeface="Inter Semi-Bold"/>
                <a:ea typeface="Inter Semi-Bold"/>
                <a:cs typeface="Inter Semi-Bold"/>
                <a:sym typeface="Inter Semi-Bold"/>
              </a:rPr>
              <a:t>Key Metric</a:t>
            </a:r>
          </a:p>
        </p:txBody>
      </p:sp>
      <p:sp>
        <p:nvSpPr>
          <p:cNvPr name="TextBox 7" id="7"/>
          <p:cNvSpPr txBox="true"/>
          <p:nvPr/>
        </p:nvSpPr>
        <p:spPr>
          <a:xfrm rot="0">
            <a:off x="6242273" y="6462440"/>
            <a:ext cx="3069361" cy="397485"/>
          </a:xfrm>
          <a:prstGeom prst="rect">
            <a:avLst/>
          </a:prstGeom>
        </p:spPr>
        <p:txBody>
          <a:bodyPr anchor="t" rtlCol="false" tIns="0" lIns="0" bIns="0" rIns="0">
            <a:spAutoFit/>
          </a:bodyPr>
          <a:lstStyle/>
          <a:p>
            <a:pPr algn="ctr" marL="0" indent="0" lvl="0">
              <a:lnSpc>
                <a:spcPts val="3077"/>
              </a:lnSpc>
            </a:pPr>
            <a:r>
              <a:rPr lang="en-US" b="true" sz="2798" spc="-83">
                <a:solidFill>
                  <a:srgbClr val="111111"/>
                </a:solidFill>
                <a:latin typeface="Inter Semi-Bold"/>
                <a:ea typeface="Inter Semi-Bold"/>
                <a:cs typeface="Inter Semi-Bold"/>
                <a:sym typeface="Inter Semi-Bold"/>
              </a:rPr>
              <a:t>Avg Purchase</a:t>
            </a:r>
          </a:p>
        </p:txBody>
      </p:sp>
      <p:sp>
        <p:nvSpPr>
          <p:cNvPr name="TextBox 8" id="8"/>
          <p:cNvSpPr txBox="true"/>
          <p:nvPr/>
        </p:nvSpPr>
        <p:spPr>
          <a:xfrm rot="0">
            <a:off x="6803057" y="8122866"/>
            <a:ext cx="1947793" cy="459711"/>
          </a:xfrm>
          <a:prstGeom prst="rect">
            <a:avLst/>
          </a:prstGeom>
        </p:spPr>
        <p:txBody>
          <a:bodyPr anchor="t" rtlCol="false" tIns="0" lIns="0" bIns="0" rIns="0">
            <a:spAutoFit/>
          </a:bodyPr>
          <a:lstStyle/>
          <a:p>
            <a:pPr algn="ctr" marL="0" indent="0" lvl="0">
              <a:lnSpc>
                <a:spcPts val="3517"/>
              </a:lnSpc>
            </a:pPr>
            <a:r>
              <a:rPr lang="en-US" b="true" sz="3197" spc="-191">
                <a:solidFill>
                  <a:srgbClr val="111111"/>
                </a:solidFill>
                <a:latin typeface="Inter Semi-Bold"/>
                <a:ea typeface="Inter Semi-Bold"/>
                <a:cs typeface="Inter Semi-Bold"/>
                <a:sym typeface="Inter Semi-Bold"/>
              </a:rPr>
              <a:t>$59.8</a:t>
            </a:r>
          </a:p>
        </p:txBody>
      </p:sp>
      <p:sp>
        <p:nvSpPr>
          <p:cNvPr name="TextBox 9" id="9"/>
          <p:cNvSpPr txBox="true"/>
          <p:nvPr/>
        </p:nvSpPr>
        <p:spPr>
          <a:xfrm rot="0">
            <a:off x="10607959" y="8122866"/>
            <a:ext cx="1947793" cy="459711"/>
          </a:xfrm>
          <a:prstGeom prst="rect">
            <a:avLst/>
          </a:prstGeom>
        </p:spPr>
        <p:txBody>
          <a:bodyPr anchor="t" rtlCol="false" tIns="0" lIns="0" bIns="0" rIns="0">
            <a:spAutoFit/>
          </a:bodyPr>
          <a:lstStyle/>
          <a:p>
            <a:pPr algn="ctr" marL="0" indent="0" lvl="0">
              <a:lnSpc>
                <a:spcPts val="3517"/>
              </a:lnSpc>
            </a:pPr>
            <a:r>
              <a:rPr lang="en-US" b="true" sz="3197" spc="-191">
                <a:solidFill>
                  <a:srgbClr val="111111"/>
                </a:solidFill>
                <a:latin typeface="Inter Semi-Bold"/>
                <a:ea typeface="Inter Semi-Bold"/>
                <a:cs typeface="Inter Semi-Bold"/>
                <a:sym typeface="Inter Semi-Bold"/>
              </a:rPr>
              <a:t>3.75 ★</a:t>
            </a:r>
          </a:p>
        </p:txBody>
      </p:sp>
      <p:sp>
        <p:nvSpPr>
          <p:cNvPr name="TextBox 10" id="10"/>
          <p:cNvSpPr txBox="true"/>
          <p:nvPr/>
        </p:nvSpPr>
        <p:spPr>
          <a:xfrm rot="0">
            <a:off x="14412862" y="8122866"/>
            <a:ext cx="1947793" cy="459711"/>
          </a:xfrm>
          <a:prstGeom prst="rect">
            <a:avLst/>
          </a:prstGeom>
        </p:spPr>
        <p:txBody>
          <a:bodyPr anchor="t" rtlCol="false" tIns="0" lIns="0" bIns="0" rIns="0">
            <a:spAutoFit/>
          </a:bodyPr>
          <a:lstStyle/>
          <a:p>
            <a:pPr algn="ctr" marL="0" indent="0" lvl="0">
              <a:lnSpc>
                <a:spcPts val="3517"/>
              </a:lnSpc>
            </a:pPr>
            <a:r>
              <a:rPr lang="en-US" b="true" sz="3197" spc="-191">
                <a:solidFill>
                  <a:srgbClr val="111111"/>
                </a:solidFill>
                <a:latin typeface="Inter Semi-Bold"/>
                <a:ea typeface="Inter Semi-Bold"/>
                <a:cs typeface="Inter Semi-Bold"/>
                <a:sym typeface="Inter Semi-Bold"/>
              </a:rPr>
              <a:t>27%</a:t>
            </a:r>
          </a:p>
        </p:txBody>
      </p:sp>
      <p:sp>
        <p:nvSpPr>
          <p:cNvPr name="TextBox 11" id="11"/>
          <p:cNvSpPr txBox="true"/>
          <p:nvPr/>
        </p:nvSpPr>
        <p:spPr>
          <a:xfrm rot="0">
            <a:off x="10047175" y="6462440"/>
            <a:ext cx="3069361" cy="397485"/>
          </a:xfrm>
          <a:prstGeom prst="rect">
            <a:avLst/>
          </a:prstGeom>
        </p:spPr>
        <p:txBody>
          <a:bodyPr anchor="t" rtlCol="false" tIns="0" lIns="0" bIns="0" rIns="0">
            <a:spAutoFit/>
          </a:bodyPr>
          <a:lstStyle/>
          <a:p>
            <a:pPr algn="ctr" marL="0" indent="0" lvl="0">
              <a:lnSpc>
                <a:spcPts val="3077"/>
              </a:lnSpc>
            </a:pPr>
            <a:r>
              <a:rPr lang="en-US" b="true" sz="2798" spc="-83">
                <a:solidFill>
                  <a:srgbClr val="111111"/>
                </a:solidFill>
                <a:latin typeface="Inter Semi-Bold"/>
                <a:ea typeface="Inter Semi-Bold"/>
                <a:cs typeface="Inter Semi-Bold"/>
                <a:sym typeface="Inter Semi-Bold"/>
              </a:rPr>
              <a:t>Avg Rating</a:t>
            </a:r>
          </a:p>
        </p:txBody>
      </p:sp>
      <p:sp>
        <p:nvSpPr>
          <p:cNvPr name="TextBox 12" id="12"/>
          <p:cNvSpPr txBox="true"/>
          <p:nvPr/>
        </p:nvSpPr>
        <p:spPr>
          <a:xfrm rot="0">
            <a:off x="13852078" y="6462440"/>
            <a:ext cx="3069361" cy="397485"/>
          </a:xfrm>
          <a:prstGeom prst="rect">
            <a:avLst/>
          </a:prstGeom>
        </p:spPr>
        <p:txBody>
          <a:bodyPr anchor="t" rtlCol="false" tIns="0" lIns="0" bIns="0" rIns="0">
            <a:spAutoFit/>
          </a:bodyPr>
          <a:lstStyle/>
          <a:p>
            <a:pPr algn="ctr" marL="0" indent="0" lvl="0">
              <a:lnSpc>
                <a:spcPts val="3077"/>
              </a:lnSpc>
            </a:pPr>
            <a:r>
              <a:rPr lang="en-US" b="true" sz="2798" spc="-83">
                <a:solidFill>
                  <a:srgbClr val="111111"/>
                </a:solidFill>
                <a:latin typeface="Inter Semi-Bold"/>
                <a:ea typeface="Inter Semi-Bold"/>
                <a:cs typeface="Inter Semi-Bold"/>
                <a:sym typeface="Inter Semi-Bold"/>
              </a:rPr>
              <a:t>Subscribers</a:t>
            </a:r>
          </a:p>
        </p:txBody>
      </p:sp>
      <p:sp>
        <p:nvSpPr>
          <p:cNvPr name="TextBox 13" id="13"/>
          <p:cNvSpPr txBox="true"/>
          <p:nvPr/>
        </p:nvSpPr>
        <p:spPr>
          <a:xfrm rot="0">
            <a:off x="1820414" y="8101292"/>
            <a:ext cx="3771462" cy="512413"/>
          </a:xfrm>
          <a:prstGeom prst="rect">
            <a:avLst/>
          </a:prstGeom>
        </p:spPr>
        <p:txBody>
          <a:bodyPr anchor="t" rtlCol="false" tIns="0" lIns="0" bIns="0" rIns="0">
            <a:spAutoFit/>
          </a:bodyPr>
          <a:lstStyle/>
          <a:p>
            <a:pPr algn="l" marL="0" indent="0" lvl="0">
              <a:lnSpc>
                <a:spcPts val="3957"/>
              </a:lnSpc>
            </a:pPr>
            <a:r>
              <a:rPr lang="en-US" b="true" sz="3597" spc="-107">
                <a:solidFill>
                  <a:srgbClr val="111111"/>
                </a:solidFill>
                <a:latin typeface="Inter Semi-Bold"/>
                <a:ea typeface="Inter Semi-Bold"/>
                <a:cs typeface="Inter Semi-Bold"/>
                <a:sym typeface="Inter Semi-Bold"/>
              </a:rPr>
              <a:t>Dataset Values</a:t>
            </a:r>
          </a:p>
        </p:txBody>
      </p:sp>
      <p:sp>
        <p:nvSpPr>
          <p:cNvPr name="AutoShape 14" id="14"/>
          <p:cNvSpPr/>
          <p:nvPr/>
        </p:nvSpPr>
        <p:spPr>
          <a:xfrm>
            <a:off x="1028700" y="7487866"/>
            <a:ext cx="16230600" cy="0"/>
          </a:xfrm>
          <a:prstGeom prst="line">
            <a:avLst/>
          </a:prstGeom>
          <a:ln cap="flat" w="19050">
            <a:solidFill>
              <a:srgbClr val="1C1C1C"/>
            </a:solidFill>
            <a:prstDash val="solid"/>
            <a:headEnd type="none" len="sm" w="sm"/>
            <a:tailEnd type="none" len="sm" w="sm"/>
          </a:ln>
        </p:spPr>
      </p:sp>
      <p:sp>
        <p:nvSpPr>
          <p:cNvPr name="AutoShape 15" id="15"/>
          <p:cNvSpPr/>
          <p:nvPr/>
        </p:nvSpPr>
        <p:spPr>
          <a:xfrm flipV="true">
            <a:off x="5871949" y="5736482"/>
            <a:ext cx="0" cy="3521818"/>
          </a:xfrm>
          <a:prstGeom prst="line">
            <a:avLst/>
          </a:prstGeom>
          <a:ln cap="flat" w="19050">
            <a:solidFill>
              <a:srgbClr val="1C1C1C"/>
            </a:solidFill>
            <a:prstDash val="solid"/>
            <a:headEnd type="none" len="sm" w="sm"/>
            <a:tailEnd type="none" len="sm" w="sm"/>
          </a:ln>
        </p:spPr>
      </p:sp>
      <p:sp>
        <p:nvSpPr>
          <p:cNvPr name="AutoShape 16" id="16"/>
          <p:cNvSpPr/>
          <p:nvPr/>
        </p:nvSpPr>
        <p:spPr>
          <a:xfrm flipV="true">
            <a:off x="9679404" y="5736482"/>
            <a:ext cx="0" cy="3496666"/>
          </a:xfrm>
          <a:prstGeom prst="line">
            <a:avLst/>
          </a:prstGeom>
          <a:ln cap="flat" w="19050">
            <a:solidFill>
              <a:srgbClr val="1C1C1C"/>
            </a:solidFill>
            <a:prstDash val="solid"/>
            <a:headEnd type="none" len="sm" w="sm"/>
            <a:tailEnd type="none" len="sm" w="sm"/>
          </a:ln>
        </p:spPr>
      </p:sp>
      <p:sp>
        <p:nvSpPr>
          <p:cNvPr name="AutoShape 17" id="17"/>
          <p:cNvSpPr/>
          <p:nvPr/>
        </p:nvSpPr>
        <p:spPr>
          <a:xfrm flipV="true">
            <a:off x="13484307" y="5736482"/>
            <a:ext cx="0" cy="3496666"/>
          </a:xfrm>
          <a:prstGeom prst="line">
            <a:avLst/>
          </a:prstGeom>
          <a:ln cap="flat" w="19050">
            <a:solidFill>
              <a:srgbClr val="1C1C1C"/>
            </a:solidFill>
            <a:prstDash val="solid"/>
            <a:headEnd type="none" len="sm" w="sm"/>
            <a:tailEnd type="none" len="sm" w="sm"/>
          </a:ln>
        </p:spPr>
      </p:sp>
      <p:grpSp>
        <p:nvGrpSpPr>
          <p:cNvPr name="Group 18" id="18"/>
          <p:cNvGrpSpPr/>
          <p:nvPr/>
        </p:nvGrpSpPr>
        <p:grpSpPr>
          <a:xfrm rot="0">
            <a:off x="10518787" y="3010698"/>
            <a:ext cx="1436786" cy="143678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sp>
        <p:nvSpPr>
          <p:cNvPr name="Freeform 21" id="21"/>
          <p:cNvSpPr/>
          <p:nvPr/>
        </p:nvSpPr>
        <p:spPr>
          <a:xfrm flipH="false" flipV="false" rot="0">
            <a:off x="10906754" y="3354043"/>
            <a:ext cx="660851" cy="743289"/>
          </a:xfrm>
          <a:custGeom>
            <a:avLst/>
            <a:gdLst/>
            <a:ahLst/>
            <a:cxnLst/>
            <a:rect r="r" b="b" t="t" l="l"/>
            <a:pathLst>
              <a:path h="743289" w="660851">
                <a:moveTo>
                  <a:pt x="0" y="0"/>
                </a:moveTo>
                <a:lnTo>
                  <a:pt x="660852" y="0"/>
                </a:lnTo>
                <a:lnTo>
                  <a:pt x="660852" y="743289"/>
                </a:lnTo>
                <a:lnTo>
                  <a:pt x="0" y="7432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2" id="22"/>
          <p:cNvSpPr txBox="true"/>
          <p:nvPr/>
        </p:nvSpPr>
        <p:spPr>
          <a:xfrm rot="0">
            <a:off x="12322699" y="3067848"/>
            <a:ext cx="3575750" cy="794970"/>
          </a:xfrm>
          <a:prstGeom prst="rect">
            <a:avLst/>
          </a:prstGeom>
        </p:spPr>
        <p:txBody>
          <a:bodyPr anchor="t" rtlCol="false" tIns="0" lIns="0" bIns="0" rIns="0">
            <a:spAutoFit/>
          </a:bodyPr>
          <a:lstStyle/>
          <a:p>
            <a:pPr algn="l" marL="0" indent="0" lvl="0">
              <a:lnSpc>
                <a:spcPts val="6155"/>
              </a:lnSpc>
            </a:pPr>
            <a:r>
              <a:rPr lang="en-US" b="true" sz="5596" spc="-335">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3,900</a:t>
            </a:r>
          </a:p>
        </p:txBody>
      </p:sp>
      <p:sp>
        <p:nvSpPr>
          <p:cNvPr name="TextBox 23" id="23"/>
          <p:cNvSpPr txBox="true"/>
          <p:nvPr/>
        </p:nvSpPr>
        <p:spPr>
          <a:xfrm rot="0">
            <a:off x="12322699" y="3963969"/>
            <a:ext cx="3575750" cy="897861"/>
          </a:xfrm>
          <a:prstGeom prst="rect">
            <a:avLst/>
          </a:prstGeom>
        </p:spPr>
        <p:txBody>
          <a:bodyPr anchor="t" rtlCol="false" tIns="0" lIns="0" bIns="0" rIns="0">
            <a:spAutoFit/>
          </a:bodyPr>
          <a:lstStyle/>
          <a:p>
            <a:pPr algn="l" marL="0" indent="0" lvl="0">
              <a:lnSpc>
                <a:spcPts val="3517"/>
              </a:lnSpc>
            </a:pPr>
            <a:r>
              <a:rPr lang="en-US" sz="3197" spc="-191">
                <a:solidFill>
                  <a:srgbClr val="F8F8F8"/>
                </a:solidFill>
                <a:latin typeface="Inter"/>
                <a:ea typeface="Inter"/>
                <a:cs typeface="Inter"/>
                <a:sym typeface="Inter"/>
              </a:rPr>
              <a:t>Total Records | 18 Features</a:t>
            </a:r>
          </a:p>
        </p:txBody>
      </p:sp>
      <p:sp>
        <p:nvSpPr>
          <p:cNvPr name="TextBox 24" id="24"/>
          <p:cNvSpPr txBox="true"/>
          <p:nvPr/>
        </p:nvSpPr>
        <p:spPr>
          <a:xfrm rot="0">
            <a:off x="14935479" y="1029003"/>
            <a:ext cx="2323821" cy="273713"/>
          </a:xfrm>
          <a:prstGeom prst="rect">
            <a:avLst/>
          </a:prstGeom>
        </p:spPr>
        <p:txBody>
          <a:bodyPr anchor="t" rtlCol="false" tIns="0" lIns="0" bIns="0" rIns="0">
            <a:spAutoFit/>
          </a:bodyPr>
          <a:lstStyle/>
          <a:p>
            <a:pPr algn="r" marL="0" indent="0" lvl="0">
              <a:lnSpc>
                <a:spcPts val="2238"/>
              </a:lnSpc>
            </a:pPr>
            <a:r>
              <a:rPr lang="en-US" sz="1598">
                <a:solidFill>
                  <a:srgbClr val="F8F8F8"/>
                </a:solidFill>
                <a:latin typeface="Inter"/>
                <a:ea typeface="Inter"/>
                <a:cs typeface="Inter"/>
                <a:sym typeface="Inter"/>
              </a:rPr>
              <a:t>2026</a:t>
            </a:r>
          </a:p>
        </p:txBody>
      </p:sp>
      <p:sp>
        <p:nvSpPr>
          <p:cNvPr name="TextBox 25" id="25"/>
          <p:cNvSpPr txBox="true"/>
          <p:nvPr/>
        </p:nvSpPr>
        <p:spPr>
          <a:xfrm rot="0">
            <a:off x="6755761" y="1029003"/>
            <a:ext cx="4776478" cy="273713"/>
          </a:xfrm>
          <a:prstGeom prst="rect">
            <a:avLst/>
          </a:prstGeom>
        </p:spPr>
        <p:txBody>
          <a:bodyPr anchor="t" rtlCol="false" tIns="0" lIns="0" bIns="0" rIns="0">
            <a:spAutoFit/>
          </a:bodyPr>
          <a:lstStyle/>
          <a:p>
            <a:pPr algn="ctr" marL="0" indent="0" lvl="0">
              <a:lnSpc>
                <a:spcPts val="2238"/>
              </a:lnSpc>
            </a:pPr>
            <a:r>
              <a:rPr lang="en-US" sz="1598">
                <a:solidFill>
                  <a:srgbClr val="F8F8F8">
                    <a:alpha val="69804"/>
                  </a:srgbClr>
                </a:solidFill>
                <a:latin typeface="Inter"/>
                <a:ea typeface="Inter"/>
                <a:cs typeface="Inter"/>
                <a:sym typeface="Inter"/>
              </a:rPr>
              <a:t>Customer Shopping Behaviour Analysis</a:t>
            </a:r>
          </a:p>
        </p:txBody>
      </p:sp>
      <p:sp>
        <p:nvSpPr>
          <p:cNvPr name="TextBox 26" id="26"/>
          <p:cNvSpPr txBox="true"/>
          <p:nvPr/>
        </p:nvSpPr>
        <p:spPr>
          <a:xfrm rot="0">
            <a:off x="1028700" y="3865196"/>
            <a:ext cx="6865637" cy="935387"/>
          </a:xfrm>
          <a:prstGeom prst="rect">
            <a:avLst/>
          </a:prstGeom>
        </p:spPr>
        <p:txBody>
          <a:bodyPr anchor="t" rtlCol="false" tIns="0" lIns="0" bIns="0" rIns="0">
            <a:spAutoFit/>
          </a:bodyPr>
          <a:lstStyle/>
          <a:p>
            <a:pPr algn="l" marL="0" indent="0" lvl="0">
              <a:lnSpc>
                <a:spcPts val="2518"/>
              </a:lnSpc>
              <a:spcBef>
                <a:spcPct val="0"/>
              </a:spcBef>
            </a:pPr>
            <a:r>
              <a:rPr lang="en-US" sz="1798">
                <a:solidFill>
                  <a:srgbClr val="F8F8F8"/>
                </a:solidFill>
                <a:latin typeface="Inter"/>
                <a:ea typeface="Inter"/>
                <a:cs typeface="Inter"/>
                <a:sym typeface="Inter"/>
              </a:rPr>
              <a:t>The dataset contains 3,900 customer transactions across 18 features, spanning demographics, purchase behaviour, payment methods, and seasonal patterns in the retail domain.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TextBox 2" id="2"/>
          <p:cNvSpPr txBox="true"/>
          <p:nvPr/>
        </p:nvSpPr>
        <p:spPr>
          <a:xfrm rot="0">
            <a:off x="1028700" y="2215755"/>
            <a:ext cx="10243977" cy="470706"/>
          </a:xfrm>
          <a:prstGeom prst="rect">
            <a:avLst/>
          </a:prstGeom>
        </p:spPr>
        <p:txBody>
          <a:bodyPr anchor="t" rtlCol="false" tIns="0" lIns="0" bIns="0" rIns="0">
            <a:spAutoFit/>
          </a:bodyPr>
          <a:lstStyle/>
          <a:p>
            <a:pPr algn="l" marL="0" indent="0" lvl="0">
              <a:lnSpc>
                <a:spcPts val="3644"/>
              </a:lnSpc>
            </a:pPr>
            <a:r>
              <a:rPr lang="en-US" sz="3313" spc="-198">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Features Breakdown</a:t>
            </a:r>
          </a:p>
        </p:txBody>
      </p:sp>
      <p:sp>
        <p:nvSpPr>
          <p:cNvPr name="TextBox 3" id="3"/>
          <p:cNvSpPr txBox="true"/>
          <p:nvPr/>
        </p:nvSpPr>
        <p:spPr>
          <a:xfrm rot="0">
            <a:off x="4489192" y="6624229"/>
            <a:ext cx="5628443" cy="240116"/>
          </a:xfrm>
          <a:prstGeom prst="rect">
            <a:avLst/>
          </a:prstGeom>
        </p:spPr>
        <p:txBody>
          <a:bodyPr anchor="t" rtlCol="false" tIns="0" lIns="0" bIns="0" rIns="0">
            <a:spAutoFit/>
          </a:bodyPr>
          <a:lstStyle/>
          <a:p>
            <a:pPr algn="l" marL="0" indent="0" lvl="0">
              <a:lnSpc>
                <a:spcPts val="1822"/>
              </a:lnSpc>
            </a:pPr>
            <a:r>
              <a:rPr lang="en-US" b="true" sz="1656" spc="-49">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Customer &amp; Demographics</a:t>
            </a:r>
          </a:p>
        </p:txBody>
      </p:sp>
      <p:sp>
        <p:nvSpPr>
          <p:cNvPr name="TextBox 4" id="4"/>
          <p:cNvSpPr txBox="true"/>
          <p:nvPr/>
        </p:nvSpPr>
        <p:spPr>
          <a:xfrm rot="0">
            <a:off x="11630857" y="6624229"/>
            <a:ext cx="5628443" cy="240116"/>
          </a:xfrm>
          <a:prstGeom prst="rect">
            <a:avLst/>
          </a:prstGeom>
        </p:spPr>
        <p:txBody>
          <a:bodyPr anchor="t" rtlCol="false" tIns="0" lIns="0" bIns="0" rIns="0">
            <a:spAutoFit/>
          </a:bodyPr>
          <a:lstStyle/>
          <a:p>
            <a:pPr algn="l" marL="0" indent="0" lvl="0">
              <a:lnSpc>
                <a:spcPts val="1822"/>
              </a:lnSpc>
            </a:pPr>
            <a:r>
              <a:rPr lang="en-US" b="true" sz="1656" spc="-49">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Purchase Details</a:t>
            </a:r>
          </a:p>
        </p:txBody>
      </p:sp>
      <p:sp>
        <p:nvSpPr>
          <p:cNvPr name="TextBox 5" id="5"/>
          <p:cNvSpPr txBox="true"/>
          <p:nvPr/>
        </p:nvSpPr>
        <p:spPr>
          <a:xfrm rot="0">
            <a:off x="4489192" y="8237992"/>
            <a:ext cx="5628443" cy="240116"/>
          </a:xfrm>
          <a:prstGeom prst="rect">
            <a:avLst/>
          </a:prstGeom>
        </p:spPr>
        <p:txBody>
          <a:bodyPr anchor="t" rtlCol="false" tIns="0" lIns="0" bIns="0" rIns="0">
            <a:spAutoFit/>
          </a:bodyPr>
          <a:lstStyle/>
          <a:p>
            <a:pPr algn="l" marL="0" indent="0" lvl="0">
              <a:lnSpc>
                <a:spcPts val="1822"/>
              </a:lnSpc>
            </a:pPr>
            <a:r>
              <a:rPr lang="en-US" b="true" sz="1656" spc="-49">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Customer Status &amp; Behaviour</a:t>
            </a:r>
          </a:p>
        </p:txBody>
      </p:sp>
      <p:sp>
        <p:nvSpPr>
          <p:cNvPr name="TextBox 6" id="6"/>
          <p:cNvSpPr txBox="true"/>
          <p:nvPr/>
        </p:nvSpPr>
        <p:spPr>
          <a:xfrm rot="0">
            <a:off x="11630857" y="8237992"/>
            <a:ext cx="5628443" cy="240116"/>
          </a:xfrm>
          <a:prstGeom prst="rect">
            <a:avLst/>
          </a:prstGeom>
        </p:spPr>
        <p:txBody>
          <a:bodyPr anchor="t" rtlCol="false" tIns="0" lIns="0" bIns="0" rIns="0">
            <a:spAutoFit/>
          </a:bodyPr>
          <a:lstStyle/>
          <a:p>
            <a:pPr algn="l" marL="0" indent="0" lvl="0">
              <a:lnSpc>
                <a:spcPts val="1822"/>
              </a:lnSpc>
            </a:pPr>
            <a:r>
              <a:rPr lang="en-US" b="true" sz="1656" spc="-49">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Transaction Details</a:t>
            </a:r>
          </a:p>
        </p:txBody>
      </p:sp>
      <p:sp>
        <p:nvSpPr>
          <p:cNvPr name="TextBox 7" id="7"/>
          <p:cNvSpPr txBox="true"/>
          <p:nvPr/>
        </p:nvSpPr>
        <p:spPr>
          <a:xfrm rot="0">
            <a:off x="4489192" y="7237502"/>
            <a:ext cx="5628443" cy="199386"/>
          </a:xfrm>
          <a:prstGeom prst="rect">
            <a:avLst/>
          </a:prstGeom>
        </p:spPr>
        <p:txBody>
          <a:bodyPr anchor="t" rtlCol="false" tIns="0" lIns="0" bIns="0" rIns="0">
            <a:spAutoFit/>
          </a:bodyPr>
          <a:lstStyle/>
          <a:p>
            <a:pPr algn="l" marL="0" indent="0" lvl="0">
              <a:lnSpc>
                <a:spcPts val="1594"/>
              </a:lnSpc>
            </a:pPr>
            <a:r>
              <a:rPr lang="en-US" sz="1449" spc="-43">
                <a:solidFill>
                  <a:srgbClr val="F8F8F8"/>
                </a:solidFill>
                <a:latin typeface="Inter"/>
                <a:ea typeface="Inter"/>
                <a:cs typeface="Inter"/>
                <a:sym typeface="Inter"/>
              </a:rPr>
              <a:t>Customer ID, Age, Gender, Location</a:t>
            </a:r>
          </a:p>
        </p:txBody>
      </p:sp>
      <p:sp>
        <p:nvSpPr>
          <p:cNvPr name="TextBox 8" id="8"/>
          <p:cNvSpPr txBox="true"/>
          <p:nvPr/>
        </p:nvSpPr>
        <p:spPr>
          <a:xfrm rot="0">
            <a:off x="11630857" y="7237502"/>
            <a:ext cx="5628443" cy="199386"/>
          </a:xfrm>
          <a:prstGeom prst="rect">
            <a:avLst/>
          </a:prstGeom>
        </p:spPr>
        <p:txBody>
          <a:bodyPr anchor="t" rtlCol="false" tIns="0" lIns="0" bIns="0" rIns="0">
            <a:spAutoFit/>
          </a:bodyPr>
          <a:lstStyle/>
          <a:p>
            <a:pPr algn="l" marL="0" indent="0" lvl="0">
              <a:lnSpc>
                <a:spcPts val="1594"/>
              </a:lnSpc>
            </a:pPr>
            <a:r>
              <a:rPr lang="en-US" sz="1449" spc="-43">
                <a:solidFill>
                  <a:srgbClr val="F8F8F8"/>
                </a:solidFill>
                <a:latin typeface="Inter"/>
                <a:ea typeface="Inter"/>
                <a:cs typeface="Inter"/>
                <a:sym typeface="Inter"/>
              </a:rPr>
              <a:t>Item Purchased, Category, Purchase Amount, Season, Review Rating</a:t>
            </a:r>
          </a:p>
        </p:txBody>
      </p:sp>
      <p:sp>
        <p:nvSpPr>
          <p:cNvPr name="TextBox 9" id="9"/>
          <p:cNvSpPr txBox="true"/>
          <p:nvPr/>
        </p:nvSpPr>
        <p:spPr>
          <a:xfrm rot="0">
            <a:off x="4489192" y="8851265"/>
            <a:ext cx="5628443" cy="199386"/>
          </a:xfrm>
          <a:prstGeom prst="rect">
            <a:avLst/>
          </a:prstGeom>
        </p:spPr>
        <p:txBody>
          <a:bodyPr anchor="t" rtlCol="false" tIns="0" lIns="0" bIns="0" rIns="0">
            <a:spAutoFit/>
          </a:bodyPr>
          <a:lstStyle/>
          <a:p>
            <a:pPr algn="l" marL="0" indent="0" lvl="0">
              <a:lnSpc>
                <a:spcPts val="1594"/>
              </a:lnSpc>
            </a:pPr>
            <a:r>
              <a:rPr lang="en-US" sz="1449" spc="-43">
                <a:solidFill>
                  <a:srgbClr val="F8F8F8"/>
                </a:solidFill>
                <a:latin typeface="Inter"/>
                <a:ea typeface="Inter"/>
                <a:cs typeface="Inter"/>
                <a:sym typeface="Inter"/>
              </a:rPr>
              <a:t>Subscription Status, Previous Purchases, Frequency of Purchases</a:t>
            </a:r>
          </a:p>
        </p:txBody>
      </p:sp>
      <p:sp>
        <p:nvSpPr>
          <p:cNvPr name="TextBox 10" id="10"/>
          <p:cNvSpPr txBox="true"/>
          <p:nvPr/>
        </p:nvSpPr>
        <p:spPr>
          <a:xfrm rot="0">
            <a:off x="11630857" y="8851265"/>
            <a:ext cx="5628443" cy="399411"/>
          </a:xfrm>
          <a:prstGeom prst="rect">
            <a:avLst/>
          </a:prstGeom>
        </p:spPr>
        <p:txBody>
          <a:bodyPr anchor="t" rtlCol="false" tIns="0" lIns="0" bIns="0" rIns="0">
            <a:spAutoFit/>
          </a:bodyPr>
          <a:lstStyle/>
          <a:p>
            <a:pPr algn="l" marL="0" indent="0" lvl="0">
              <a:lnSpc>
                <a:spcPts val="1594"/>
              </a:lnSpc>
            </a:pPr>
            <a:r>
              <a:rPr lang="en-US" sz="1449" spc="-43">
                <a:solidFill>
                  <a:srgbClr val="F8F8F8"/>
                </a:solidFill>
                <a:latin typeface="Inter"/>
                <a:ea typeface="Inter"/>
                <a:cs typeface="Inter"/>
                <a:sym typeface="Inter"/>
              </a:rPr>
              <a:t>Payment Method, Shipping Type, Discount Applied, Promo Code Used</a:t>
            </a:r>
          </a:p>
        </p:txBody>
      </p:sp>
      <p:sp>
        <p:nvSpPr>
          <p:cNvPr name="TextBox 11" id="11"/>
          <p:cNvSpPr txBox="true"/>
          <p:nvPr/>
        </p:nvSpPr>
        <p:spPr>
          <a:xfrm rot="0">
            <a:off x="3745623" y="6686459"/>
            <a:ext cx="673656" cy="199386"/>
          </a:xfrm>
          <a:prstGeom prst="rect">
            <a:avLst/>
          </a:prstGeom>
        </p:spPr>
        <p:txBody>
          <a:bodyPr anchor="t" rtlCol="false" tIns="0" lIns="0" bIns="0" rIns="0">
            <a:spAutoFit/>
          </a:bodyPr>
          <a:lstStyle/>
          <a:p>
            <a:pPr algn="l" marL="0" indent="0" lvl="0">
              <a:lnSpc>
                <a:spcPts val="1594"/>
              </a:lnSpc>
            </a:pPr>
            <a:r>
              <a:rPr lang="en-US" sz="1449" spc="-43">
                <a:solidFill>
                  <a:srgbClr val="C1FF72"/>
                </a:solidFill>
                <a:latin typeface="Inter"/>
                <a:ea typeface="Inter"/>
                <a:cs typeface="Inter"/>
                <a:sym typeface="Inter"/>
              </a:rPr>
              <a:t>01</a:t>
            </a:r>
          </a:p>
        </p:txBody>
      </p:sp>
      <p:sp>
        <p:nvSpPr>
          <p:cNvPr name="TextBox 12" id="12"/>
          <p:cNvSpPr txBox="true"/>
          <p:nvPr/>
        </p:nvSpPr>
        <p:spPr>
          <a:xfrm rot="0">
            <a:off x="10887288" y="6686459"/>
            <a:ext cx="673656" cy="199386"/>
          </a:xfrm>
          <a:prstGeom prst="rect">
            <a:avLst/>
          </a:prstGeom>
        </p:spPr>
        <p:txBody>
          <a:bodyPr anchor="t" rtlCol="false" tIns="0" lIns="0" bIns="0" rIns="0">
            <a:spAutoFit/>
          </a:bodyPr>
          <a:lstStyle/>
          <a:p>
            <a:pPr algn="l" marL="0" indent="0" lvl="0">
              <a:lnSpc>
                <a:spcPts val="1594"/>
              </a:lnSpc>
            </a:pPr>
            <a:r>
              <a:rPr lang="en-US" sz="1449" spc="-43">
                <a:solidFill>
                  <a:srgbClr val="C1FF72"/>
                </a:solidFill>
                <a:latin typeface="Inter"/>
                <a:ea typeface="Inter"/>
                <a:cs typeface="Inter"/>
                <a:sym typeface="Inter"/>
              </a:rPr>
              <a:t>03</a:t>
            </a:r>
          </a:p>
        </p:txBody>
      </p:sp>
      <p:sp>
        <p:nvSpPr>
          <p:cNvPr name="TextBox 13" id="13"/>
          <p:cNvSpPr txBox="true"/>
          <p:nvPr/>
        </p:nvSpPr>
        <p:spPr>
          <a:xfrm rot="0">
            <a:off x="3745623" y="8273870"/>
            <a:ext cx="673656" cy="199386"/>
          </a:xfrm>
          <a:prstGeom prst="rect">
            <a:avLst/>
          </a:prstGeom>
        </p:spPr>
        <p:txBody>
          <a:bodyPr anchor="t" rtlCol="false" tIns="0" lIns="0" bIns="0" rIns="0">
            <a:spAutoFit/>
          </a:bodyPr>
          <a:lstStyle/>
          <a:p>
            <a:pPr algn="l" marL="0" indent="0" lvl="0">
              <a:lnSpc>
                <a:spcPts val="1594"/>
              </a:lnSpc>
            </a:pPr>
            <a:r>
              <a:rPr lang="en-US" sz="1449" spc="-43">
                <a:solidFill>
                  <a:srgbClr val="C1FF72"/>
                </a:solidFill>
                <a:latin typeface="Inter"/>
                <a:ea typeface="Inter"/>
                <a:cs typeface="Inter"/>
                <a:sym typeface="Inter"/>
              </a:rPr>
              <a:t>02</a:t>
            </a:r>
          </a:p>
        </p:txBody>
      </p:sp>
      <p:sp>
        <p:nvSpPr>
          <p:cNvPr name="TextBox 14" id="14"/>
          <p:cNvSpPr txBox="true"/>
          <p:nvPr/>
        </p:nvSpPr>
        <p:spPr>
          <a:xfrm rot="0">
            <a:off x="10887288" y="8273870"/>
            <a:ext cx="673656" cy="199386"/>
          </a:xfrm>
          <a:prstGeom prst="rect">
            <a:avLst/>
          </a:prstGeom>
        </p:spPr>
        <p:txBody>
          <a:bodyPr anchor="t" rtlCol="false" tIns="0" lIns="0" bIns="0" rIns="0">
            <a:spAutoFit/>
          </a:bodyPr>
          <a:lstStyle/>
          <a:p>
            <a:pPr algn="l" marL="0" indent="0" lvl="0">
              <a:lnSpc>
                <a:spcPts val="1594"/>
              </a:lnSpc>
            </a:pPr>
            <a:r>
              <a:rPr lang="en-US" sz="1449" spc="-43">
                <a:solidFill>
                  <a:srgbClr val="C1FF72"/>
                </a:solidFill>
                <a:latin typeface="Inter"/>
                <a:ea typeface="Inter"/>
                <a:cs typeface="Inter"/>
                <a:sym typeface="Inter"/>
              </a:rPr>
              <a:t>04</a:t>
            </a:r>
          </a:p>
        </p:txBody>
      </p:sp>
      <p:sp>
        <p:nvSpPr>
          <p:cNvPr name="TextBox 15" id="15"/>
          <p:cNvSpPr txBox="true"/>
          <p:nvPr/>
        </p:nvSpPr>
        <p:spPr>
          <a:xfrm rot="0">
            <a:off x="14935479" y="1066800"/>
            <a:ext cx="2323821" cy="207645"/>
          </a:xfrm>
          <a:prstGeom prst="rect">
            <a:avLst/>
          </a:prstGeom>
        </p:spPr>
        <p:txBody>
          <a:bodyPr anchor="t" rtlCol="false" tIns="0" lIns="0" bIns="0" rIns="0">
            <a:spAutoFit/>
          </a:bodyPr>
          <a:lstStyle/>
          <a:p>
            <a:pPr algn="r" marL="0" indent="0" lvl="0">
              <a:lnSpc>
                <a:spcPts val="1679"/>
              </a:lnSpc>
            </a:pPr>
            <a:r>
              <a:rPr lang="en-US" sz="1200">
                <a:solidFill>
                  <a:srgbClr val="F8F8F8"/>
                </a:solidFill>
                <a:latin typeface="Inter"/>
                <a:ea typeface="Inter"/>
                <a:cs typeface="Inter"/>
                <a:sym typeface="Inter"/>
              </a:rPr>
              <a:t>2026</a:t>
            </a:r>
          </a:p>
        </p:txBody>
      </p:sp>
      <p:grpSp>
        <p:nvGrpSpPr>
          <p:cNvPr name="Group 16" id="16"/>
          <p:cNvGrpSpPr/>
          <p:nvPr/>
        </p:nvGrpSpPr>
        <p:grpSpPr>
          <a:xfrm rot="0">
            <a:off x="1028700" y="1065371"/>
            <a:ext cx="2363614" cy="239077"/>
            <a:chOff x="0" y="0"/>
            <a:chExt cx="3151485" cy="318770"/>
          </a:xfrm>
        </p:grpSpPr>
        <p:sp>
          <p:nvSpPr>
            <p:cNvPr name="Freeform 17" id="17"/>
            <p:cNvSpPr/>
            <p:nvPr/>
          </p:nvSpPr>
          <p:spPr>
            <a:xfrm flipH="false" flipV="false" rot="0">
              <a:off x="0" y="4509"/>
              <a:ext cx="297924" cy="309751"/>
            </a:xfrm>
            <a:custGeom>
              <a:avLst/>
              <a:gdLst/>
              <a:ahLst/>
              <a:cxnLst/>
              <a:rect r="r" b="b" t="t" l="l"/>
              <a:pathLst>
                <a:path h="309751" w="297924">
                  <a:moveTo>
                    <a:pt x="0" y="0"/>
                  </a:moveTo>
                  <a:lnTo>
                    <a:pt x="297924" y="0"/>
                  </a:lnTo>
                  <a:lnTo>
                    <a:pt x="297924" y="309752"/>
                  </a:lnTo>
                  <a:lnTo>
                    <a:pt x="0" y="309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507901" y="9525"/>
              <a:ext cx="2643584" cy="309245"/>
            </a:xfrm>
            <a:prstGeom prst="rect">
              <a:avLst/>
            </a:prstGeom>
          </p:spPr>
          <p:txBody>
            <a:bodyPr anchor="t" rtlCol="false" tIns="0" lIns="0" bIns="0" rIns="0">
              <a:spAutoFit/>
            </a:bodyPr>
            <a:lstStyle/>
            <a:p>
              <a:pPr algn="l" marL="0" indent="0" lvl="0">
                <a:lnSpc>
                  <a:spcPts val="1732"/>
                </a:lnSpc>
              </a:pPr>
              <a:r>
                <a:rPr lang="en-US" sz="1574" spc="-31">
                  <a:solidFill>
                    <a:srgbClr val="F8F8F8"/>
                  </a:solidFill>
                  <a:latin typeface="Inter"/>
                  <a:ea typeface="Inter"/>
                  <a:cs typeface="Inter"/>
                  <a:sym typeface="Inter"/>
                </a:rPr>
                <a:t>Yashraj S. Kakade</a:t>
              </a:r>
            </a:p>
          </p:txBody>
        </p:sp>
      </p:grpSp>
      <p:sp>
        <p:nvSpPr>
          <p:cNvPr name="TextBox 19" id="19"/>
          <p:cNvSpPr txBox="true"/>
          <p:nvPr/>
        </p:nvSpPr>
        <p:spPr>
          <a:xfrm rot="0">
            <a:off x="6755761" y="1066800"/>
            <a:ext cx="4776478" cy="207645"/>
          </a:xfrm>
          <a:prstGeom prst="rect">
            <a:avLst/>
          </a:prstGeom>
        </p:spPr>
        <p:txBody>
          <a:bodyPr anchor="t" rtlCol="false" tIns="0" lIns="0" bIns="0" rIns="0">
            <a:spAutoFit/>
          </a:bodyPr>
          <a:lstStyle/>
          <a:p>
            <a:pPr algn="ctr" marL="0" indent="0" lvl="0">
              <a:lnSpc>
                <a:spcPts val="1679"/>
              </a:lnSpc>
            </a:pPr>
            <a:r>
              <a:rPr lang="en-US" sz="1200">
                <a:solidFill>
                  <a:srgbClr val="F8F8F8">
                    <a:alpha val="69804"/>
                  </a:srgbClr>
                </a:solidFill>
                <a:latin typeface="Inter"/>
                <a:ea typeface="Inter"/>
                <a:cs typeface="Inter"/>
                <a:sym typeface="Inter"/>
              </a:rPr>
              <a:t>Customer Shopping Behaviour Analysis</a:t>
            </a:r>
          </a:p>
        </p:txBody>
      </p:sp>
      <p:sp>
        <p:nvSpPr>
          <p:cNvPr name="TextBox 20" id="20"/>
          <p:cNvSpPr txBox="true"/>
          <p:nvPr/>
        </p:nvSpPr>
        <p:spPr>
          <a:xfrm rot="0">
            <a:off x="1028700" y="3884246"/>
            <a:ext cx="7540670" cy="461010"/>
          </a:xfrm>
          <a:prstGeom prst="rect">
            <a:avLst/>
          </a:prstGeom>
        </p:spPr>
        <p:txBody>
          <a:bodyPr anchor="t" rtlCol="false" tIns="0" lIns="0" bIns="0" rIns="0">
            <a:spAutoFit/>
          </a:bodyPr>
          <a:lstStyle/>
          <a:p>
            <a:pPr algn="l" marL="0" indent="0" lvl="0">
              <a:lnSpc>
                <a:spcPts val="1889"/>
              </a:lnSpc>
              <a:spcBef>
                <a:spcPct val="0"/>
              </a:spcBef>
            </a:pPr>
            <a:r>
              <a:rPr lang="en-US" sz="1350">
                <a:solidFill>
                  <a:srgbClr val="F8F8F8"/>
                </a:solidFill>
                <a:latin typeface="Inter"/>
                <a:ea typeface="Inter"/>
                <a:cs typeface="Inter"/>
                <a:sym typeface="Inter"/>
              </a:rPr>
              <a:t>Overview of the 18 dataset features grouped into four logical categories covering customer attributes, purchase details, behaviour patterns, and transaction specifics.</a:t>
            </a:r>
          </a:p>
        </p:txBody>
      </p:sp>
      <p:grpSp>
        <p:nvGrpSpPr>
          <p:cNvPr name="Group 21" id="21"/>
          <p:cNvGrpSpPr/>
          <p:nvPr/>
        </p:nvGrpSpPr>
        <p:grpSpPr>
          <a:xfrm rot="0">
            <a:off x="11755660" y="2187180"/>
            <a:ext cx="5503640" cy="3025006"/>
            <a:chOff x="0" y="0"/>
            <a:chExt cx="1136142" cy="624466"/>
          </a:xfrm>
        </p:grpSpPr>
        <p:sp>
          <p:nvSpPr>
            <p:cNvPr name="Freeform 22" id="22"/>
            <p:cNvSpPr/>
            <p:nvPr/>
          </p:nvSpPr>
          <p:spPr>
            <a:xfrm flipH="false" flipV="false" rot="0">
              <a:off x="0" y="0"/>
              <a:ext cx="1136142" cy="624466"/>
            </a:xfrm>
            <a:custGeom>
              <a:avLst/>
              <a:gdLst/>
              <a:ahLst/>
              <a:cxnLst/>
              <a:rect r="r" b="b" t="t" l="l"/>
              <a:pathLst>
                <a:path h="624466" w="1136142">
                  <a:moveTo>
                    <a:pt x="70335" y="0"/>
                  </a:moveTo>
                  <a:lnTo>
                    <a:pt x="1065807" y="0"/>
                  </a:lnTo>
                  <a:cubicBezTo>
                    <a:pt x="1084461" y="0"/>
                    <a:pt x="1102351" y="7410"/>
                    <a:pt x="1115541" y="20601"/>
                  </a:cubicBezTo>
                  <a:cubicBezTo>
                    <a:pt x="1128731" y="33791"/>
                    <a:pt x="1136142" y="51681"/>
                    <a:pt x="1136142" y="70335"/>
                  </a:cubicBezTo>
                  <a:lnTo>
                    <a:pt x="1136142" y="554131"/>
                  </a:lnTo>
                  <a:cubicBezTo>
                    <a:pt x="1136142" y="572785"/>
                    <a:pt x="1128731" y="590675"/>
                    <a:pt x="1115541" y="603865"/>
                  </a:cubicBezTo>
                  <a:cubicBezTo>
                    <a:pt x="1102351" y="617056"/>
                    <a:pt x="1084461" y="624466"/>
                    <a:pt x="1065807" y="624466"/>
                  </a:cubicBezTo>
                  <a:lnTo>
                    <a:pt x="70335" y="624466"/>
                  </a:lnTo>
                  <a:cubicBezTo>
                    <a:pt x="51681" y="624466"/>
                    <a:pt x="33791" y="617056"/>
                    <a:pt x="20601" y="603865"/>
                  </a:cubicBezTo>
                  <a:cubicBezTo>
                    <a:pt x="7410" y="590675"/>
                    <a:pt x="0" y="572785"/>
                    <a:pt x="0" y="554131"/>
                  </a:cubicBezTo>
                  <a:lnTo>
                    <a:pt x="0" y="70335"/>
                  </a:lnTo>
                  <a:cubicBezTo>
                    <a:pt x="0" y="51681"/>
                    <a:pt x="7410" y="33791"/>
                    <a:pt x="20601" y="20601"/>
                  </a:cubicBezTo>
                  <a:cubicBezTo>
                    <a:pt x="33791" y="7410"/>
                    <a:pt x="51681" y="0"/>
                    <a:pt x="70335" y="0"/>
                  </a:cubicBezTo>
                  <a:close/>
                </a:path>
              </a:pathLst>
            </a:custGeom>
            <a:blipFill>
              <a:blip r:embed="rId4"/>
              <a:stretch>
                <a:fillRect l="0" t="-1852" r="0" b="-1852"/>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TextBox 2" id="2"/>
          <p:cNvSpPr txBox="true"/>
          <p:nvPr/>
        </p:nvSpPr>
        <p:spPr>
          <a:xfrm rot="0">
            <a:off x="1028700" y="2223519"/>
            <a:ext cx="7540670" cy="711479"/>
          </a:xfrm>
          <a:prstGeom prst="rect">
            <a:avLst/>
          </a:prstGeom>
        </p:spPr>
        <p:txBody>
          <a:bodyPr anchor="t" rtlCol="false" tIns="0" lIns="0" bIns="0" rIns="0">
            <a:spAutoFit/>
          </a:bodyPr>
          <a:lstStyle/>
          <a:p>
            <a:pPr algn="l" marL="0" indent="0" lvl="0">
              <a:lnSpc>
                <a:spcPts val="5524"/>
              </a:lnSpc>
            </a:pPr>
            <a:r>
              <a:rPr lang="en-US" sz="5022" spc="-301">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Category &amp; Revenue Insights</a:t>
            </a:r>
          </a:p>
        </p:txBody>
      </p:sp>
      <p:sp>
        <p:nvSpPr>
          <p:cNvPr name="TextBox 3" id="3"/>
          <p:cNvSpPr txBox="true"/>
          <p:nvPr/>
        </p:nvSpPr>
        <p:spPr>
          <a:xfrm rot="0">
            <a:off x="1028700" y="3865196"/>
            <a:ext cx="7540670" cy="935387"/>
          </a:xfrm>
          <a:prstGeom prst="rect">
            <a:avLst/>
          </a:prstGeom>
        </p:spPr>
        <p:txBody>
          <a:bodyPr anchor="t" rtlCol="false" tIns="0" lIns="0" bIns="0" rIns="0">
            <a:spAutoFit/>
          </a:bodyPr>
          <a:lstStyle/>
          <a:p>
            <a:pPr algn="l" marL="0" indent="0" lvl="0">
              <a:lnSpc>
                <a:spcPts val="2518"/>
              </a:lnSpc>
              <a:spcBef>
                <a:spcPct val="0"/>
              </a:spcBef>
            </a:pPr>
            <a:r>
              <a:rPr lang="en-US" sz="1798" strike="noStrike" u="none">
                <a:solidFill>
                  <a:srgbClr val="F8F8F8"/>
                </a:solidFill>
                <a:latin typeface="Inter"/>
                <a:ea typeface="Inter"/>
                <a:cs typeface="Inter"/>
                <a:sym typeface="Inter"/>
              </a:rPr>
              <a:t>Transaction and revenue distribution across 4 product categories. Clothing dominates with nearly half of all transactions, while purchase amounts remain remarkably consistent across all categories.</a:t>
            </a:r>
          </a:p>
        </p:txBody>
      </p:sp>
      <p:grpSp>
        <p:nvGrpSpPr>
          <p:cNvPr name="Group 4" id="4"/>
          <p:cNvGrpSpPr/>
          <p:nvPr/>
        </p:nvGrpSpPr>
        <p:grpSpPr>
          <a:xfrm rot="0">
            <a:off x="10875746" y="2175894"/>
            <a:ext cx="6383554" cy="7082406"/>
            <a:chOff x="0" y="0"/>
            <a:chExt cx="2089776" cy="2318558"/>
          </a:xfrm>
        </p:grpSpPr>
        <p:sp>
          <p:nvSpPr>
            <p:cNvPr name="Freeform 5" id="5"/>
            <p:cNvSpPr/>
            <p:nvPr/>
          </p:nvSpPr>
          <p:spPr>
            <a:xfrm flipH="false" flipV="false" rot="0">
              <a:off x="0" y="0"/>
              <a:ext cx="2089776" cy="2318558"/>
            </a:xfrm>
            <a:custGeom>
              <a:avLst/>
              <a:gdLst/>
              <a:ahLst/>
              <a:cxnLst/>
              <a:rect r="r" b="b" t="t" l="l"/>
              <a:pathLst>
                <a:path h="2318558" w="2089776">
                  <a:moveTo>
                    <a:pt x="60640" y="0"/>
                  </a:moveTo>
                  <a:lnTo>
                    <a:pt x="2029137" y="0"/>
                  </a:lnTo>
                  <a:cubicBezTo>
                    <a:pt x="2045219" y="0"/>
                    <a:pt x="2060643" y="6389"/>
                    <a:pt x="2072015" y="17761"/>
                  </a:cubicBezTo>
                  <a:cubicBezTo>
                    <a:pt x="2083387" y="29133"/>
                    <a:pt x="2089776" y="44557"/>
                    <a:pt x="2089776" y="60640"/>
                  </a:cubicBezTo>
                  <a:lnTo>
                    <a:pt x="2089776" y="2257919"/>
                  </a:lnTo>
                  <a:cubicBezTo>
                    <a:pt x="2089776" y="2274001"/>
                    <a:pt x="2083387" y="2289425"/>
                    <a:pt x="2072015" y="2300797"/>
                  </a:cubicBezTo>
                  <a:cubicBezTo>
                    <a:pt x="2060643" y="2312170"/>
                    <a:pt x="2045219" y="2318558"/>
                    <a:pt x="2029137" y="2318558"/>
                  </a:cubicBezTo>
                  <a:lnTo>
                    <a:pt x="60640" y="2318558"/>
                  </a:lnTo>
                  <a:cubicBezTo>
                    <a:pt x="44557" y="2318558"/>
                    <a:pt x="29133" y="2312170"/>
                    <a:pt x="17761" y="2300797"/>
                  </a:cubicBezTo>
                  <a:cubicBezTo>
                    <a:pt x="6389" y="2289425"/>
                    <a:pt x="0" y="2274001"/>
                    <a:pt x="0" y="2257919"/>
                  </a:cubicBezTo>
                  <a:lnTo>
                    <a:pt x="0" y="60640"/>
                  </a:lnTo>
                  <a:cubicBezTo>
                    <a:pt x="0" y="44557"/>
                    <a:pt x="6389" y="29133"/>
                    <a:pt x="17761" y="17761"/>
                  </a:cubicBezTo>
                  <a:cubicBezTo>
                    <a:pt x="29133" y="6389"/>
                    <a:pt x="44557" y="0"/>
                    <a:pt x="60640"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6" id="6"/>
            <p:cNvSpPr txBox="true"/>
            <p:nvPr/>
          </p:nvSpPr>
          <p:spPr>
            <a:xfrm>
              <a:off x="0" y="-38100"/>
              <a:ext cx="2089776" cy="2356658"/>
            </a:xfrm>
            <a:prstGeom prst="rect">
              <a:avLst/>
            </a:prstGeom>
          </p:spPr>
          <p:txBody>
            <a:bodyPr anchor="ctr" rtlCol="false" tIns="50800" lIns="50800" bIns="50800" rIns="50800"/>
            <a:lstStyle/>
            <a:p>
              <a:pPr algn="ctr" marL="0" indent="0" lvl="0">
                <a:lnSpc>
                  <a:spcPts val="2520"/>
                </a:lnSpc>
              </a:pPr>
            </a:p>
          </p:txBody>
        </p:sp>
      </p:grpSp>
      <p:sp>
        <p:nvSpPr>
          <p:cNvPr name="TextBox 7" id="7"/>
          <p:cNvSpPr txBox="true"/>
          <p:nvPr/>
        </p:nvSpPr>
        <p:spPr>
          <a:xfrm rot="0">
            <a:off x="11467821" y="2891023"/>
            <a:ext cx="3575750" cy="408296"/>
          </a:xfrm>
          <a:prstGeom prst="rect">
            <a:avLst/>
          </a:prstGeom>
        </p:spPr>
        <p:txBody>
          <a:bodyPr anchor="t" rtlCol="false" tIns="0" lIns="0" bIns="0" rIns="0">
            <a:spAutoFit/>
          </a:bodyPr>
          <a:lstStyle/>
          <a:p>
            <a:pPr algn="l" marL="0" indent="0" lvl="0">
              <a:lnSpc>
                <a:spcPts val="3189"/>
              </a:lnSpc>
            </a:pPr>
            <a:r>
              <a:rPr lang="en-US" b="true" sz="2899" spc="-173">
                <a:solidFill>
                  <a:srgbClr val="111111"/>
                </a:solidFill>
                <a:latin typeface="Inter Semi-Bold"/>
                <a:ea typeface="Inter Semi-Bold"/>
                <a:cs typeface="Inter Semi-Bold"/>
                <a:sym typeface="Inter Semi-Bold"/>
              </a:rPr>
              <a:t>1,737</a:t>
            </a:r>
          </a:p>
        </p:txBody>
      </p:sp>
      <p:sp>
        <p:nvSpPr>
          <p:cNvPr name="TextBox 8" id="8"/>
          <p:cNvSpPr txBox="true"/>
          <p:nvPr/>
        </p:nvSpPr>
        <p:spPr>
          <a:xfrm rot="0">
            <a:off x="11467821" y="5040874"/>
            <a:ext cx="3575750" cy="408296"/>
          </a:xfrm>
          <a:prstGeom prst="rect">
            <a:avLst/>
          </a:prstGeom>
        </p:spPr>
        <p:txBody>
          <a:bodyPr anchor="t" rtlCol="false" tIns="0" lIns="0" bIns="0" rIns="0">
            <a:spAutoFit/>
          </a:bodyPr>
          <a:lstStyle/>
          <a:p>
            <a:pPr algn="l" marL="0" indent="0" lvl="0">
              <a:lnSpc>
                <a:spcPts val="3189"/>
              </a:lnSpc>
            </a:pPr>
            <a:r>
              <a:rPr lang="en-US" b="true" sz="2899" spc="-173">
                <a:solidFill>
                  <a:srgbClr val="111111"/>
                </a:solidFill>
                <a:latin typeface="Inter Semi-Bold"/>
                <a:ea typeface="Inter Semi-Bold"/>
                <a:cs typeface="Inter Semi-Bold"/>
                <a:sym typeface="Inter Semi-Bold"/>
              </a:rPr>
              <a:t>1,240</a:t>
            </a:r>
          </a:p>
        </p:txBody>
      </p:sp>
      <p:sp>
        <p:nvSpPr>
          <p:cNvPr name="TextBox 9" id="9"/>
          <p:cNvSpPr txBox="true"/>
          <p:nvPr/>
        </p:nvSpPr>
        <p:spPr>
          <a:xfrm rot="0">
            <a:off x="11467821" y="3806194"/>
            <a:ext cx="5202454" cy="240116"/>
          </a:xfrm>
          <a:prstGeom prst="rect">
            <a:avLst/>
          </a:prstGeom>
        </p:spPr>
        <p:txBody>
          <a:bodyPr anchor="t" rtlCol="false" tIns="0" lIns="0" bIns="0" rIns="0">
            <a:spAutoFit/>
          </a:bodyPr>
          <a:lstStyle/>
          <a:p>
            <a:pPr algn="l" marL="0" indent="0" lvl="0">
              <a:lnSpc>
                <a:spcPts val="1822"/>
              </a:lnSpc>
            </a:pPr>
            <a:r>
              <a:rPr lang="en-US" sz="1656" spc="-49">
                <a:solidFill>
                  <a:srgbClr val="111111"/>
                </a:solidFill>
                <a:latin typeface="Inter"/>
                <a:ea typeface="Inter"/>
                <a:cs typeface="Inter"/>
                <a:sym typeface="Inter"/>
              </a:rPr>
              <a:t>Clothing — 44.5%, avg $60.0</a:t>
            </a:r>
          </a:p>
        </p:txBody>
      </p:sp>
      <p:sp>
        <p:nvSpPr>
          <p:cNvPr name="TextBox 10" id="10"/>
          <p:cNvSpPr txBox="true"/>
          <p:nvPr/>
        </p:nvSpPr>
        <p:spPr>
          <a:xfrm rot="0">
            <a:off x="11467821" y="5956045"/>
            <a:ext cx="5202454" cy="240116"/>
          </a:xfrm>
          <a:prstGeom prst="rect">
            <a:avLst/>
          </a:prstGeom>
        </p:spPr>
        <p:txBody>
          <a:bodyPr anchor="t" rtlCol="false" tIns="0" lIns="0" bIns="0" rIns="0">
            <a:spAutoFit/>
          </a:bodyPr>
          <a:lstStyle/>
          <a:p>
            <a:pPr algn="l" marL="0" indent="0" lvl="0">
              <a:lnSpc>
                <a:spcPts val="1822"/>
              </a:lnSpc>
            </a:pPr>
            <a:r>
              <a:rPr lang="en-US" sz="1656" spc="-49">
                <a:solidFill>
                  <a:srgbClr val="111111"/>
                </a:solidFill>
                <a:latin typeface="Inter"/>
                <a:ea typeface="Inter"/>
                <a:cs typeface="Inter"/>
                <a:sym typeface="Inter"/>
              </a:rPr>
              <a:t>Accessories — 31.8%, avg $59.8</a:t>
            </a:r>
          </a:p>
        </p:txBody>
      </p:sp>
      <p:sp>
        <p:nvSpPr>
          <p:cNvPr name="AutoShape 11" id="11"/>
          <p:cNvSpPr/>
          <p:nvPr/>
        </p:nvSpPr>
        <p:spPr>
          <a:xfrm>
            <a:off x="11467821" y="4645586"/>
            <a:ext cx="5202454" cy="0"/>
          </a:xfrm>
          <a:prstGeom prst="line">
            <a:avLst/>
          </a:prstGeom>
          <a:ln cap="flat" w="19050">
            <a:solidFill>
              <a:srgbClr val="1C1C1C"/>
            </a:solidFill>
            <a:prstDash val="solid"/>
            <a:headEnd type="none" len="sm" w="sm"/>
            <a:tailEnd type="none" len="sm" w="sm"/>
          </a:ln>
        </p:spPr>
      </p:sp>
      <p:sp>
        <p:nvSpPr>
          <p:cNvPr name="AutoShape 12" id="12"/>
          <p:cNvSpPr/>
          <p:nvPr/>
        </p:nvSpPr>
        <p:spPr>
          <a:xfrm>
            <a:off x="11467821" y="6792023"/>
            <a:ext cx="5202454" cy="0"/>
          </a:xfrm>
          <a:prstGeom prst="line">
            <a:avLst/>
          </a:prstGeom>
          <a:ln cap="flat" w="19050">
            <a:solidFill>
              <a:srgbClr val="1C1C1C"/>
            </a:solidFill>
            <a:prstDash val="solid"/>
            <a:headEnd type="none" len="sm" w="sm"/>
            <a:tailEnd type="none" len="sm" w="sm"/>
          </a:ln>
        </p:spPr>
      </p:sp>
      <p:sp>
        <p:nvSpPr>
          <p:cNvPr name="TextBox 13" id="13"/>
          <p:cNvSpPr txBox="true"/>
          <p:nvPr/>
        </p:nvSpPr>
        <p:spPr>
          <a:xfrm rot="0">
            <a:off x="11467821" y="7187310"/>
            <a:ext cx="3575750" cy="408296"/>
          </a:xfrm>
          <a:prstGeom prst="rect">
            <a:avLst/>
          </a:prstGeom>
        </p:spPr>
        <p:txBody>
          <a:bodyPr anchor="t" rtlCol="false" tIns="0" lIns="0" bIns="0" rIns="0">
            <a:spAutoFit/>
          </a:bodyPr>
          <a:lstStyle/>
          <a:p>
            <a:pPr algn="l" marL="0" indent="0" lvl="0">
              <a:lnSpc>
                <a:spcPts val="3189"/>
              </a:lnSpc>
            </a:pPr>
            <a:r>
              <a:rPr lang="en-US" b="true" sz="2899" spc="-173">
                <a:solidFill>
                  <a:srgbClr val="111111"/>
                </a:solidFill>
                <a:latin typeface="Inter Semi-Bold"/>
                <a:ea typeface="Inter Semi-Bold"/>
                <a:cs typeface="Inter Semi-Bold"/>
                <a:sym typeface="Inter Semi-Bold"/>
              </a:rPr>
              <a:t>599</a:t>
            </a:r>
          </a:p>
        </p:txBody>
      </p:sp>
      <p:sp>
        <p:nvSpPr>
          <p:cNvPr name="TextBox 14" id="14"/>
          <p:cNvSpPr txBox="true"/>
          <p:nvPr/>
        </p:nvSpPr>
        <p:spPr>
          <a:xfrm rot="0">
            <a:off x="11467821" y="8102482"/>
            <a:ext cx="5202454" cy="468716"/>
          </a:xfrm>
          <a:prstGeom prst="rect">
            <a:avLst/>
          </a:prstGeom>
        </p:spPr>
        <p:txBody>
          <a:bodyPr anchor="t" rtlCol="false" tIns="0" lIns="0" bIns="0" rIns="0">
            <a:spAutoFit/>
          </a:bodyPr>
          <a:lstStyle/>
          <a:p>
            <a:pPr algn="l" marL="0" indent="0" lvl="0">
              <a:lnSpc>
                <a:spcPts val="1822"/>
              </a:lnSpc>
            </a:pPr>
            <a:r>
              <a:rPr lang="en-US" sz="1656" spc="-49">
                <a:solidFill>
                  <a:srgbClr val="111111"/>
                </a:solidFill>
                <a:latin typeface="Inter"/>
                <a:ea typeface="Inter"/>
                <a:cs typeface="Inter"/>
                <a:sym typeface="Inter"/>
              </a:rPr>
              <a:t>Footwear — 15.4%, avg $60.3</a:t>
            </a:r>
          </a:p>
          <a:p>
            <a:pPr algn="l" marL="0" indent="0" lvl="0">
              <a:lnSpc>
                <a:spcPts val="1822"/>
              </a:lnSpc>
            </a:pPr>
            <a:r>
              <a:rPr lang="en-US" sz="1656" spc="-49">
                <a:solidFill>
                  <a:srgbClr val="111111"/>
                </a:solidFill>
                <a:latin typeface="Inter"/>
                <a:ea typeface="Inter"/>
                <a:cs typeface="Inter"/>
                <a:sym typeface="Inter"/>
              </a:rPr>
              <a:t>Outerwear — 8.3% (324), avg $57.2</a:t>
            </a:r>
          </a:p>
        </p:txBody>
      </p:sp>
      <p:grpSp>
        <p:nvGrpSpPr>
          <p:cNvPr name="Group 15" id="15"/>
          <p:cNvGrpSpPr/>
          <p:nvPr/>
        </p:nvGrpSpPr>
        <p:grpSpPr>
          <a:xfrm rot="0">
            <a:off x="1028700" y="5797161"/>
            <a:ext cx="8145967" cy="3450769"/>
            <a:chOff x="0" y="0"/>
            <a:chExt cx="1296235" cy="549107"/>
          </a:xfrm>
        </p:grpSpPr>
        <p:sp>
          <p:nvSpPr>
            <p:cNvPr name="Freeform 16" id="16"/>
            <p:cNvSpPr/>
            <p:nvPr/>
          </p:nvSpPr>
          <p:spPr>
            <a:xfrm flipH="false" flipV="false" rot="0">
              <a:off x="0" y="0"/>
              <a:ext cx="1296235" cy="549107"/>
            </a:xfrm>
            <a:custGeom>
              <a:avLst/>
              <a:gdLst/>
              <a:ahLst/>
              <a:cxnLst/>
              <a:rect r="r" b="b" t="t" l="l"/>
              <a:pathLst>
                <a:path h="549107" w="1296235">
                  <a:moveTo>
                    <a:pt x="47520" y="0"/>
                  </a:moveTo>
                  <a:lnTo>
                    <a:pt x="1248715" y="0"/>
                  </a:lnTo>
                  <a:cubicBezTo>
                    <a:pt x="1261318" y="0"/>
                    <a:pt x="1273405" y="5007"/>
                    <a:pt x="1282317" y="13918"/>
                  </a:cubicBezTo>
                  <a:cubicBezTo>
                    <a:pt x="1291228" y="22830"/>
                    <a:pt x="1296235" y="34917"/>
                    <a:pt x="1296235" y="47520"/>
                  </a:cubicBezTo>
                  <a:lnTo>
                    <a:pt x="1296235" y="501587"/>
                  </a:lnTo>
                  <a:cubicBezTo>
                    <a:pt x="1296235" y="514190"/>
                    <a:pt x="1291228" y="526277"/>
                    <a:pt x="1282317" y="535189"/>
                  </a:cubicBezTo>
                  <a:cubicBezTo>
                    <a:pt x="1273405" y="544100"/>
                    <a:pt x="1261318" y="549107"/>
                    <a:pt x="1248715" y="549107"/>
                  </a:cubicBezTo>
                  <a:lnTo>
                    <a:pt x="47520" y="549107"/>
                  </a:lnTo>
                  <a:cubicBezTo>
                    <a:pt x="34917" y="549107"/>
                    <a:pt x="22830" y="544100"/>
                    <a:pt x="13918" y="535189"/>
                  </a:cubicBezTo>
                  <a:cubicBezTo>
                    <a:pt x="5007" y="526277"/>
                    <a:pt x="0" y="514190"/>
                    <a:pt x="0" y="501587"/>
                  </a:cubicBezTo>
                  <a:lnTo>
                    <a:pt x="0" y="47520"/>
                  </a:lnTo>
                  <a:cubicBezTo>
                    <a:pt x="0" y="34917"/>
                    <a:pt x="5007" y="22830"/>
                    <a:pt x="13918" y="13918"/>
                  </a:cubicBezTo>
                  <a:cubicBezTo>
                    <a:pt x="22830" y="5007"/>
                    <a:pt x="34917" y="0"/>
                    <a:pt x="47520" y="0"/>
                  </a:cubicBezTo>
                  <a:close/>
                </a:path>
              </a:pathLst>
            </a:custGeom>
            <a:blipFill>
              <a:blip r:embed="rId2"/>
              <a:stretch>
                <a:fillRect l="0" t="-17277" r="0" b="-17277"/>
              </a:stretch>
            </a:blipFill>
          </p:spPr>
        </p:sp>
      </p:grpSp>
      <p:sp>
        <p:nvSpPr>
          <p:cNvPr name="TextBox 17" id="17"/>
          <p:cNvSpPr txBox="true"/>
          <p:nvPr/>
        </p:nvSpPr>
        <p:spPr>
          <a:xfrm rot="0">
            <a:off x="14935479" y="1029003"/>
            <a:ext cx="2323821" cy="273713"/>
          </a:xfrm>
          <a:prstGeom prst="rect">
            <a:avLst/>
          </a:prstGeom>
        </p:spPr>
        <p:txBody>
          <a:bodyPr anchor="t" rtlCol="false" tIns="0" lIns="0" bIns="0" rIns="0">
            <a:spAutoFit/>
          </a:bodyPr>
          <a:lstStyle/>
          <a:p>
            <a:pPr algn="r" marL="0" indent="0" lvl="0">
              <a:lnSpc>
                <a:spcPts val="2238"/>
              </a:lnSpc>
            </a:pPr>
            <a:r>
              <a:rPr lang="en-US" sz="1598">
                <a:solidFill>
                  <a:srgbClr val="F8F8F8"/>
                </a:solidFill>
                <a:latin typeface="Inter"/>
                <a:ea typeface="Inter"/>
                <a:cs typeface="Inter"/>
                <a:sym typeface="Inter"/>
              </a:rPr>
              <a:t>2026</a:t>
            </a:r>
          </a:p>
        </p:txBody>
      </p:sp>
      <p:grpSp>
        <p:nvGrpSpPr>
          <p:cNvPr name="Group 18" id="18"/>
          <p:cNvGrpSpPr/>
          <p:nvPr/>
        </p:nvGrpSpPr>
        <p:grpSpPr>
          <a:xfrm rot="0">
            <a:off x="1028700" y="1028709"/>
            <a:ext cx="2363614" cy="312401"/>
            <a:chOff x="0" y="0"/>
            <a:chExt cx="3151485" cy="416535"/>
          </a:xfrm>
        </p:grpSpPr>
        <p:sp>
          <p:nvSpPr>
            <p:cNvPr name="Freeform 19" id="19"/>
            <p:cNvSpPr/>
            <p:nvPr/>
          </p:nvSpPr>
          <p:spPr>
            <a:xfrm flipH="false" flipV="false" rot="0">
              <a:off x="0" y="53392"/>
              <a:ext cx="297924" cy="309751"/>
            </a:xfrm>
            <a:custGeom>
              <a:avLst/>
              <a:gdLst/>
              <a:ahLst/>
              <a:cxnLst/>
              <a:rect r="r" b="b" t="t" l="l"/>
              <a:pathLst>
                <a:path h="309751" w="297924">
                  <a:moveTo>
                    <a:pt x="0" y="0"/>
                  </a:moveTo>
                  <a:lnTo>
                    <a:pt x="297924" y="0"/>
                  </a:lnTo>
                  <a:lnTo>
                    <a:pt x="297924" y="309751"/>
                  </a:lnTo>
                  <a:lnTo>
                    <a:pt x="0" y="3097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507901" y="19050"/>
              <a:ext cx="2643584" cy="397485"/>
            </a:xfrm>
            <a:prstGeom prst="rect">
              <a:avLst/>
            </a:prstGeom>
          </p:spPr>
          <p:txBody>
            <a:bodyPr anchor="t" rtlCol="false" tIns="0" lIns="0" bIns="0" rIns="0">
              <a:spAutoFit/>
            </a:bodyPr>
            <a:lstStyle/>
            <a:p>
              <a:pPr algn="l" marL="0" indent="0" lvl="0">
                <a:lnSpc>
                  <a:spcPts val="2308"/>
                </a:lnSpc>
              </a:pPr>
              <a:r>
                <a:rPr lang="en-US" sz="2098" spc="-41">
                  <a:solidFill>
                    <a:srgbClr val="F8F8F8"/>
                  </a:solidFill>
                  <a:latin typeface="Inter"/>
                  <a:ea typeface="Inter"/>
                  <a:cs typeface="Inter"/>
                  <a:sym typeface="Inter"/>
                </a:rPr>
                <a:t>Retail Analytics</a:t>
              </a:r>
            </a:p>
          </p:txBody>
        </p:sp>
      </p:grpSp>
      <p:sp>
        <p:nvSpPr>
          <p:cNvPr name="TextBox 21" id="21"/>
          <p:cNvSpPr txBox="true"/>
          <p:nvPr/>
        </p:nvSpPr>
        <p:spPr>
          <a:xfrm rot="0">
            <a:off x="6755761" y="1029003"/>
            <a:ext cx="4776478" cy="273713"/>
          </a:xfrm>
          <a:prstGeom prst="rect">
            <a:avLst/>
          </a:prstGeom>
        </p:spPr>
        <p:txBody>
          <a:bodyPr anchor="t" rtlCol="false" tIns="0" lIns="0" bIns="0" rIns="0">
            <a:spAutoFit/>
          </a:bodyPr>
          <a:lstStyle/>
          <a:p>
            <a:pPr algn="ctr" marL="0" indent="0" lvl="0">
              <a:lnSpc>
                <a:spcPts val="2238"/>
              </a:lnSpc>
            </a:pPr>
            <a:r>
              <a:rPr lang="en-US" sz="1598">
                <a:solidFill>
                  <a:srgbClr val="F8F8F8">
                    <a:alpha val="69804"/>
                  </a:srgbClr>
                </a:solidFill>
                <a:latin typeface="Inter"/>
                <a:ea typeface="Inter"/>
                <a:cs typeface="Inter"/>
                <a:sym typeface="Inter"/>
              </a:rPr>
              <a:t>Customer Shopping Behaviour Analysis Report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TextBox 2" id="2"/>
          <p:cNvSpPr txBox="true"/>
          <p:nvPr/>
        </p:nvSpPr>
        <p:spPr>
          <a:xfrm rot="0">
            <a:off x="1028700" y="2233044"/>
            <a:ext cx="5651219" cy="1795723"/>
          </a:xfrm>
          <a:prstGeom prst="rect">
            <a:avLst/>
          </a:prstGeom>
        </p:spPr>
        <p:txBody>
          <a:bodyPr anchor="t" rtlCol="false" tIns="0" lIns="0" bIns="0" rIns="0">
            <a:spAutoFit/>
          </a:bodyPr>
          <a:lstStyle/>
          <a:p>
            <a:pPr algn="l" marL="0" indent="0" lvl="0">
              <a:lnSpc>
                <a:spcPts val="7035"/>
              </a:lnSpc>
            </a:pPr>
            <a:r>
              <a:rPr lang="en-US" sz="6395" spc="-383">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Customer Demographics</a:t>
            </a:r>
          </a:p>
        </p:txBody>
      </p:sp>
      <p:sp>
        <p:nvSpPr>
          <p:cNvPr name="TextBox 3" id="3"/>
          <p:cNvSpPr txBox="true"/>
          <p:nvPr/>
        </p:nvSpPr>
        <p:spPr>
          <a:xfrm rot="0">
            <a:off x="1028700" y="4550146"/>
            <a:ext cx="5584768" cy="1249712"/>
          </a:xfrm>
          <a:prstGeom prst="rect">
            <a:avLst/>
          </a:prstGeom>
        </p:spPr>
        <p:txBody>
          <a:bodyPr anchor="t" rtlCol="false" tIns="0" lIns="0" bIns="0" rIns="0">
            <a:spAutoFit/>
          </a:bodyPr>
          <a:lstStyle/>
          <a:p>
            <a:pPr algn="l" marL="0" indent="0" lvl="0">
              <a:lnSpc>
                <a:spcPts val="2518"/>
              </a:lnSpc>
              <a:spcBef>
                <a:spcPct val="0"/>
              </a:spcBef>
            </a:pPr>
            <a:r>
              <a:rPr lang="en-US" sz="1798" strike="noStrike" u="none">
                <a:solidFill>
                  <a:srgbClr val="F8F8F8"/>
                </a:solidFill>
                <a:latin typeface="Inter"/>
                <a:ea typeface="Inter"/>
                <a:cs typeface="Inter"/>
                <a:sym typeface="Inter"/>
              </a:rPr>
              <a:t>Analysis of 3,900 customers reveals a male-dominant base at 68%, with an average age of 44.1 years. The 36–45 age group represents the most active buyers, informing targeted retail strategies.</a:t>
            </a:r>
          </a:p>
        </p:txBody>
      </p:sp>
      <p:pic>
        <p:nvPicPr>
          <p:cNvPr name="Picture 4" id="4"/>
          <p:cNvPicPr>
            <a:picLocks noChangeAspect="true"/>
          </p:cNvPicPr>
          <p:nvPr/>
        </p:nvPicPr>
        <p:blipFill>
          <a:blip r:embed="rId2"/>
          <a:stretch>
            <a:fillRect/>
          </a:stretch>
        </p:blipFill>
        <p:spPr>
          <a:xfrm rot="0">
            <a:off x="8120523" y="2331975"/>
            <a:ext cx="9917088" cy="7752749"/>
          </a:xfrm>
          <a:prstGeom prst="rect">
            <a:avLst/>
          </a:prstGeom>
        </p:spPr>
      </p:pic>
      <p:grpSp>
        <p:nvGrpSpPr>
          <p:cNvPr name="Group 5" id="5"/>
          <p:cNvGrpSpPr/>
          <p:nvPr/>
        </p:nvGrpSpPr>
        <p:grpSpPr>
          <a:xfrm rot="0">
            <a:off x="10893380" y="2175894"/>
            <a:ext cx="3091663" cy="2000605"/>
            <a:chOff x="0" y="0"/>
            <a:chExt cx="1012114" cy="654935"/>
          </a:xfrm>
        </p:grpSpPr>
        <p:sp>
          <p:nvSpPr>
            <p:cNvPr name="Freeform 6" id="6"/>
            <p:cNvSpPr/>
            <p:nvPr/>
          </p:nvSpPr>
          <p:spPr>
            <a:xfrm flipH="false" flipV="false" rot="0">
              <a:off x="0" y="0"/>
              <a:ext cx="1012114" cy="654935"/>
            </a:xfrm>
            <a:custGeom>
              <a:avLst/>
              <a:gdLst/>
              <a:ahLst/>
              <a:cxnLst/>
              <a:rect r="r" b="b" t="t" l="l"/>
              <a:pathLst>
                <a:path h="654935" w="1012114">
                  <a:moveTo>
                    <a:pt x="67611" y="0"/>
                  </a:moveTo>
                  <a:lnTo>
                    <a:pt x="944503" y="0"/>
                  </a:lnTo>
                  <a:cubicBezTo>
                    <a:pt x="981843" y="0"/>
                    <a:pt x="1012114" y="30271"/>
                    <a:pt x="1012114" y="67611"/>
                  </a:cubicBezTo>
                  <a:lnTo>
                    <a:pt x="1012114" y="587324"/>
                  </a:lnTo>
                  <a:cubicBezTo>
                    <a:pt x="1012114" y="605256"/>
                    <a:pt x="1004991" y="622453"/>
                    <a:pt x="992311" y="635132"/>
                  </a:cubicBezTo>
                  <a:cubicBezTo>
                    <a:pt x="979631" y="647812"/>
                    <a:pt x="962434" y="654935"/>
                    <a:pt x="944503" y="654935"/>
                  </a:cubicBezTo>
                  <a:lnTo>
                    <a:pt x="67611" y="654935"/>
                  </a:lnTo>
                  <a:cubicBezTo>
                    <a:pt x="30271" y="654935"/>
                    <a:pt x="0" y="624665"/>
                    <a:pt x="0" y="587324"/>
                  </a:cubicBezTo>
                  <a:lnTo>
                    <a:pt x="0" y="67611"/>
                  </a:lnTo>
                  <a:cubicBezTo>
                    <a:pt x="0" y="49680"/>
                    <a:pt x="7123" y="32483"/>
                    <a:pt x="19803" y="19803"/>
                  </a:cubicBezTo>
                  <a:cubicBezTo>
                    <a:pt x="32483" y="7123"/>
                    <a:pt x="49680" y="0"/>
                    <a:pt x="67611"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7" id="7"/>
            <p:cNvSpPr txBox="true"/>
            <p:nvPr/>
          </p:nvSpPr>
          <p:spPr>
            <a:xfrm>
              <a:off x="0" y="-38100"/>
              <a:ext cx="1012114" cy="693035"/>
            </a:xfrm>
            <a:prstGeom prst="rect">
              <a:avLst/>
            </a:prstGeom>
          </p:spPr>
          <p:txBody>
            <a:bodyPr anchor="ctr" rtlCol="false" tIns="50800" lIns="50800" bIns="50800" rIns="50800"/>
            <a:lstStyle/>
            <a:p>
              <a:pPr algn="ctr" marL="0" indent="0" lvl="0">
                <a:lnSpc>
                  <a:spcPts val="2520"/>
                </a:lnSpc>
              </a:pPr>
            </a:p>
          </p:txBody>
        </p:sp>
      </p:grpSp>
      <p:sp>
        <p:nvSpPr>
          <p:cNvPr name="TextBox 8" id="8"/>
          <p:cNvSpPr txBox="true"/>
          <p:nvPr/>
        </p:nvSpPr>
        <p:spPr>
          <a:xfrm rot="0">
            <a:off x="11232292" y="2523401"/>
            <a:ext cx="2413840" cy="794970"/>
          </a:xfrm>
          <a:prstGeom prst="rect">
            <a:avLst/>
          </a:prstGeom>
        </p:spPr>
        <p:txBody>
          <a:bodyPr anchor="t" rtlCol="false" tIns="0" lIns="0" bIns="0" rIns="0">
            <a:spAutoFit/>
          </a:bodyPr>
          <a:lstStyle/>
          <a:p>
            <a:pPr algn="ctr" marL="0" indent="0" lvl="0">
              <a:lnSpc>
                <a:spcPts val="6155"/>
              </a:lnSpc>
            </a:pPr>
            <a:r>
              <a:rPr lang="en-US" b="true" sz="5596" spc="-335">
                <a:solidFill>
                  <a:srgbClr val="111111"/>
                </a:solidFill>
                <a:latin typeface="Inter Semi-Bold"/>
                <a:ea typeface="Inter Semi-Bold"/>
                <a:cs typeface="Inter Semi-Bold"/>
                <a:sym typeface="Inter Semi-Bold"/>
              </a:rPr>
              <a:t>68%</a:t>
            </a:r>
          </a:p>
        </p:txBody>
      </p:sp>
      <p:sp>
        <p:nvSpPr>
          <p:cNvPr name="TextBox 9" id="9"/>
          <p:cNvSpPr txBox="true"/>
          <p:nvPr/>
        </p:nvSpPr>
        <p:spPr>
          <a:xfrm rot="0">
            <a:off x="11062253" y="3308896"/>
            <a:ext cx="2753919" cy="459711"/>
          </a:xfrm>
          <a:prstGeom prst="rect">
            <a:avLst/>
          </a:prstGeom>
        </p:spPr>
        <p:txBody>
          <a:bodyPr anchor="t" rtlCol="false" tIns="0" lIns="0" bIns="0" rIns="0">
            <a:spAutoFit/>
          </a:bodyPr>
          <a:lstStyle/>
          <a:p>
            <a:pPr algn="ctr" marL="0" indent="0" lvl="0">
              <a:lnSpc>
                <a:spcPts val="3517"/>
              </a:lnSpc>
            </a:pPr>
            <a:r>
              <a:rPr lang="en-US" sz="3197" spc="-191">
                <a:solidFill>
                  <a:srgbClr val="111111"/>
                </a:solidFill>
                <a:latin typeface="Inter"/>
                <a:ea typeface="Inter"/>
                <a:cs typeface="Inter"/>
                <a:sym typeface="Inter"/>
              </a:rPr>
              <a:t>Male customers</a:t>
            </a:r>
          </a:p>
        </p:txBody>
      </p:sp>
      <p:sp>
        <p:nvSpPr>
          <p:cNvPr name="TextBox 10" id="10"/>
          <p:cNvSpPr txBox="true"/>
          <p:nvPr/>
        </p:nvSpPr>
        <p:spPr>
          <a:xfrm rot="0">
            <a:off x="1782153" y="7817731"/>
            <a:ext cx="1967271" cy="459711"/>
          </a:xfrm>
          <a:prstGeom prst="rect">
            <a:avLst/>
          </a:prstGeom>
        </p:spPr>
        <p:txBody>
          <a:bodyPr anchor="t" rtlCol="false" tIns="0" lIns="0" bIns="0" rIns="0">
            <a:spAutoFit/>
          </a:bodyPr>
          <a:lstStyle/>
          <a:p>
            <a:pPr algn="l" marL="0" indent="0" lvl="0">
              <a:lnSpc>
                <a:spcPts val="3517"/>
              </a:lnSpc>
            </a:pPr>
            <a:r>
              <a:rPr lang="en-US" b="true" sz="3197" spc="-191">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2,652</a:t>
            </a:r>
          </a:p>
        </p:txBody>
      </p:sp>
      <p:sp>
        <p:nvSpPr>
          <p:cNvPr name="TextBox 11" id="11"/>
          <p:cNvSpPr txBox="true"/>
          <p:nvPr/>
        </p:nvSpPr>
        <p:spPr>
          <a:xfrm rot="0">
            <a:off x="1782153" y="8798560"/>
            <a:ext cx="1967271" cy="459711"/>
          </a:xfrm>
          <a:prstGeom prst="rect">
            <a:avLst/>
          </a:prstGeom>
        </p:spPr>
        <p:txBody>
          <a:bodyPr anchor="t" rtlCol="false" tIns="0" lIns="0" bIns="0" rIns="0">
            <a:spAutoFit/>
          </a:bodyPr>
          <a:lstStyle/>
          <a:p>
            <a:pPr algn="l" marL="0" indent="0" lvl="0">
              <a:lnSpc>
                <a:spcPts val="3517"/>
              </a:lnSpc>
            </a:pPr>
            <a:r>
              <a:rPr lang="en-US" b="true" sz="3197" spc="-191">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1,248</a:t>
            </a:r>
          </a:p>
        </p:txBody>
      </p:sp>
      <p:sp>
        <p:nvSpPr>
          <p:cNvPr name="TextBox 12" id="12"/>
          <p:cNvSpPr txBox="true"/>
          <p:nvPr/>
        </p:nvSpPr>
        <p:spPr>
          <a:xfrm rot="0">
            <a:off x="3658606" y="7873230"/>
            <a:ext cx="2893945" cy="344784"/>
          </a:xfrm>
          <a:prstGeom prst="rect">
            <a:avLst/>
          </a:prstGeom>
        </p:spPr>
        <p:txBody>
          <a:bodyPr anchor="t" rtlCol="false" tIns="0" lIns="0" bIns="0" rIns="0">
            <a:spAutoFit/>
          </a:bodyPr>
          <a:lstStyle/>
          <a:p>
            <a:pPr algn="l" marL="0" indent="0" lvl="0">
              <a:lnSpc>
                <a:spcPts val="2638"/>
              </a:lnSpc>
            </a:pPr>
            <a:r>
              <a:rPr lang="en-US" sz="2398" spc="-143">
                <a:solidFill>
                  <a:srgbClr val="F8F8F8"/>
                </a:solidFill>
                <a:latin typeface="Inter"/>
                <a:ea typeface="Inter"/>
                <a:cs typeface="Inter"/>
                <a:sym typeface="Inter"/>
              </a:rPr>
              <a:t>Male customers</a:t>
            </a:r>
          </a:p>
        </p:txBody>
      </p:sp>
      <p:sp>
        <p:nvSpPr>
          <p:cNvPr name="TextBox 13" id="13"/>
          <p:cNvSpPr txBox="true"/>
          <p:nvPr/>
        </p:nvSpPr>
        <p:spPr>
          <a:xfrm rot="0">
            <a:off x="3658606" y="8854060"/>
            <a:ext cx="2893945" cy="344784"/>
          </a:xfrm>
          <a:prstGeom prst="rect">
            <a:avLst/>
          </a:prstGeom>
        </p:spPr>
        <p:txBody>
          <a:bodyPr anchor="t" rtlCol="false" tIns="0" lIns="0" bIns="0" rIns="0">
            <a:spAutoFit/>
          </a:bodyPr>
          <a:lstStyle/>
          <a:p>
            <a:pPr algn="l" marL="0" indent="0" lvl="0">
              <a:lnSpc>
                <a:spcPts val="2638"/>
              </a:lnSpc>
            </a:pPr>
            <a:r>
              <a:rPr lang="en-US" sz="2398" spc="-143">
                <a:solidFill>
                  <a:srgbClr val="F8F8F8"/>
                </a:solidFill>
                <a:latin typeface="Inter"/>
                <a:ea typeface="Inter"/>
                <a:cs typeface="Inter"/>
                <a:sym typeface="Inter"/>
              </a:rPr>
              <a:t>Female customers</a:t>
            </a:r>
          </a:p>
        </p:txBody>
      </p:sp>
      <p:sp>
        <p:nvSpPr>
          <p:cNvPr name="AutoShape 14" id="14"/>
          <p:cNvSpPr/>
          <p:nvPr/>
        </p:nvSpPr>
        <p:spPr>
          <a:xfrm>
            <a:off x="1782153" y="8541114"/>
            <a:ext cx="4219160" cy="0"/>
          </a:xfrm>
          <a:prstGeom prst="line">
            <a:avLst/>
          </a:prstGeom>
          <a:ln cap="flat" w="9525">
            <a:solidFill>
              <a:srgbClr val="F8F8F8"/>
            </a:solidFill>
            <a:prstDash val="solid"/>
            <a:headEnd type="none" len="sm" w="sm"/>
            <a:tailEnd type="none" len="sm" w="sm"/>
          </a:ln>
        </p:spPr>
      </p:sp>
      <p:grpSp>
        <p:nvGrpSpPr>
          <p:cNvPr name="Group 15" id="15"/>
          <p:cNvGrpSpPr/>
          <p:nvPr/>
        </p:nvGrpSpPr>
        <p:grpSpPr>
          <a:xfrm rot="0">
            <a:off x="1028700" y="7898291"/>
            <a:ext cx="275632" cy="27563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grpSp>
        <p:nvGrpSpPr>
          <p:cNvPr name="Group 18" id="18"/>
          <p:cNvGrpSpPr/>
          <p:nvPr/>
        </p:nvGrpSpPr>
        <p:grpSpPr>
          <a:xfrm rot="0">
            <a:off x="1028700" y="8881089"/>
            <a:ext cx="275632" cy="27563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sp>
        <p:nvSpPr>
          <p:cNvPr name="TextBox 21" id="21"/>
          <p:cNvSpPr txBox="true"/>
          <p:nvPr/>
        </p:nvSpPr>
        <p:spPr>
          <a:xfrm rot="0">
            <a:off x="14935479" y="1029003"/>
            <a:ext cx="2323821" cy="273713"/>
          </a:xfrm>
          <a:prstGeom prst="rect">
            <a:avLst/>
          </a:prstGeom>
        </p:spPr>
        <p:txBody>
          <a:bodyPr anchor="t" rtlCol="false" tIns="0" lIns="0" bIns="0" rIns="0">
            <a:spAutoFit/>
          </a:bodyPr>
          <a:lstStyle/>
          <a:p>
            <a:pPr algn="r" marL="0" indent="0" lvl="0">
              <a:lnSpc>
                <a:spcPts val="2238"/>
              </a:lnSpc>
            </a:pPr>
            <a:r>
              <a:rPr lang="en-US" sz="1598">
                <a:solidFill>
                  <a:srgbClr val="F8F8F8"/>
                </a:solidFill>
                <a:latin typeface="Inter"/>
                <a:ea typeface="Inter"/>
                <a:cs typeface="Inter"/>
                <a:sym typeface="Inter"/>
              </a:rPr>
              <a:t>2026</a:t>
            </a:r>
          </a:p>
        </p:txBody>
      </p:sp>
      <p:sp>
        <p:nvSpPr>
          <p:cNvPr name="TextBox 22" id="22"/>
          <p:cNvSpPr txBox="true"/>
          <p:nvPr/>
        </p:nvSpPr>
        <p:spPr>
          <a:xfrm rot="0">
            <a:off x="6755761" y="1029003"/>
            <a:ext cx="4776478" cy="273713"/>
          </a:xfrm>
          <a:prstGeom prst="rect">
            <a:avLst/>
          </a:prstGeom>
        </p:spPr>
        <p:txBody>
          <a:bodyPr anchor="t" rtlCol="false" tIns="0" lIns="0" bIns="0" rIns="0">
            <a:spAutoFit/>
          </a:bodyPr>
          <a:lstStyle/>
          <a:p>
            <a:pPr algn="ctr" marL="0" indent="0" lvl="0">
              <a:lnSpc>
                <a:spcPts val="2238"/>
              </a:lnSpc>
            </a:pPr>
            <a:r>
              <a:rPr lang="en-US" sz="1598">
                <a:solidFill>
                  <a:srgbClr val="F8F8F8">
                    <a:alpha val="69804"/>
                  </a:srgbClr>
                </a:solidFill>
                <a:latin typeface="Inter"/>
                <a:ea typeface="Inter"/>
                <a:cs typeface="Inter"/>
                <a:sym typeface="Inter"/>
              </a:rPr>
              <a:t>Customer Shopping Behaviour Analysis Report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367686" y="1532864"/>
            <a:ext cx="8327939" cy="6238398"/>
          </a:xfrm>
          <a:prstGeom prst="rect">
            <a:avLst/>
          </a:prstGeom>
        </p:spPr>
      </p:pic>
      <p:pic>
        <p:nvPicPr>
          <p:cNvPr name="Picture 3" id="3"/>
          <p:cNvPicPr>
            <a:picLocks noChangeAspect="true"/>
          </p:cNvPicPr>
          <p:nvPr/>
        </p:nvPicPr>
        <p:blipFill>
          <a:blip r:embed="rId3"/>
          <a:stretch>
            <a:fillRect/>
          </a:stretch>
        </p:blipFill>
        <p:spPr>
          <a:xfrm rot="0">
            <a:off x="7607804" y="1305336"/>
            <a:ext cx="10528904" cy="6693453"/>
          </a:xfrm>
          <a:prstGeom prst="rect">
            <a:avLst/>
          </a:prstGeom>
        </p:spPr>
      </p:pic>
      <p:sp>
        <p:nvSpPr>
          <p:cNvPr name="TextBox 4" id="4"/>
          <p:cNvSpPr txBox="true"/>
          <p:nvPr/>
        </p:nvSpPr>
        <p:spPr>
          <a:xfrm rot="0">
            <a:off x="14935479" y="1050369"/>
            <a:ext cx="2323821" cy="240506"/>
          </a:xfrm>
          <a:prstGeom prst="rect">
            <a:avLst/>
          </a:prstGeom>
        </p:spPr>
        <p:txBody>
          <a:bodyPr anchor="t" rtlCol="false" tIns="0" lIns="0" bIns="0" rIns="0">
            <a:spAutoFit/>
          </a:bodyPr>
          <a:lstStyle/>
          <a:p>
            <a:pPr algn="r" marL="0" indent="0" lvl="0">
              <a:lnSpc>
                <a:spcPts val="1968"/>
              </a:lnSpc>
            </a:pPr>
            <a:r>
              <a:rPr lang="en-US" sz="1406">
                <a:solidFill>
                  <a:srgbClr val="F8F8F8"/>
                </a:solidFill>
                <a:latin typeface="Inter"/>
                <a:ea typeface="Inter"/>
                <a:cs typeface="Inter"/>
                <a:sym typeface="Inter"/>
              </a:rPr>
              <a:t>2026</a:t>
            </a:r>
          </a:p>
        </p:txBody>
      </p:sp>
      <p:sp>
        <p:nvSpPr>
          <p:cNvPr name="TextBox 5" id="5"/>
          <p:cNvSpPr txBox="true"/>
          <p:nvPr/>
        </p:nvSpPr>
        <p:spPr>
          <a:xfrm rot="0">
            <a:off x="1028700" y="7969885"/>
            <a:ext cx="6398300" cy="1277023"/>
          </a:xfrm>
          <a:prstGeom prst="rect">
            <a:avLst/>
          </a:prstGeom>
        </p:spPr>
        <p:txBody>
          <a:bodyPr anchor="t" rtlCol="false" tIns="0" lIns="0" bIns="0" rIns="0">
            <a:spAutoFit/>
          </a:bodyPr>
          <a:lstStyle/>
          <a:p>
            <a:pPr algn="l" marL="0" indent="0" lvl="0">
              <a:lnSpc>
                <a:spcPts val="5008"/>
              </a:lnSpc>
            </a:pPr>
            <a:r>
              <a:rPr lang="en-US" sz="4552" spc="-273">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Payment Methods &amp; Shipping</a:t>
            </a:r>
          </a:p>
        </p:txBody>
      </p:sp>
      <p:sp>
        <p:nvSpPr>
          <p:cNvPr name="TextBox 6" id="6"/>
          <p:cNvSpPr txBox="true"/>
          <p:nvPr/>
        </p:nvSpPr>
        <p:spPr>
          <a:xfrm rot="0">
            <a:off x="8485213" y="8008620"/>
            <a:ext cx="8153825" cy="1102816"/>
          </a:xfrm>
          <a:prstGeom prst="rect">
            <a:avLst/>
          </a:prstGeom>
        </p:spPr>
        <p:txBody>
          <a:bodyPr anchor="t" rtlCol="false" tIns="0" lIns="0" bIns="0" rIns="0">
            <a:spAutoFit/>
          </a:bodyPr>
          <a:lstStyle/>
          <a:p>
            <a:pPr algn="l" marL="0" indent="0" lvl="0">
              <a:lnSpc>
                <a:spcPts val="2214"/>
              </a:lnSpc>
            </a:pPr>
            <a:r>
              <a:rPr lang="en-US" sz="1582">
                <a:solidFill>
                  <a:srgbClr val="F8F8F8"/>
                </a:solidFill>
                <a:latin typeface="Inter"/>
                <a:ea typeface="Inter"/>
                <a:cs typeface="Inter"/>
                <a:sym typeface="Inter"/>
              </a:rPr>
              <a:t>Payment methods are fairly balanced: PayPal (677), Credit Card (671), Cash (670), Debit Card (636), Venmo (634), Bank Transfer (612). Shipping types are nearly evenly distributed across Free Shipping, Standard, Store Pickup, Next Day Air, Express, and 2-Day Shipping — indicating customers value choice with no single dominant preference.</a:t>
            </a:r>
          </a:p>
        </p:txBody>
      </p:sp>
      <p:sp>
        <p:nvSpPr>
          <p:cNvPr name="TextBox 7" id="7"/>
          <p:cNvSpPr txBox="true"/>
          <p:nvPr/>
        </p:nvSpPr>
        <p:spPr>
          <a:xfrm rot="0">
            <a:off x="6755761" y="1050369"/>
            <a:ext cx="4776478" cy="240506"/>
          </a:xfrm>
          <a:prstGeom prst="rect">
            <a:avLst/>
          </a:prstGeom>
        </p:spPr>
        <p:txBody>
          <a:bodyPr anchor="t" rtlCol="false" tIns="0" lIns="0" bIns="0" rIns="0">
            <a:spAutoFit/>
          </a:bodyPr>
          <a:lstStyle/>
          <a:p>
            <a:pPr algn="ctr" marL="0" indent="0" lvl="0">
              <a:lnSpc>
                <a:spcPts val="1968"/>
              </a:lnSpc>
            </a:pPr>
            <a:r>
              <a:rPr lang="en-US" sz="1406">
                <a:solidFill>
                  <a:srgbClr val="F8F8F8">
                    <a:alpha val="69804"/>
                  </a:srgbClr>
                </a:solidFill>
                <a:latin typeface="Inter"/>
                <a:ea typeface="Inter"/>
                <a:cs typeface="Inter"/>
                <a:sym typeface="Inter"/>
              </a:rPr>
              <a:t>Customer Shopping Behaviour Analysis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C1C1C"/>
        </a:solidFill>
      </p:bgPr>
    </p:bg>
    <p:spTree>
      <p:nvGrpSpPr>
        <p:cNvPr id="1" name=""/>
        <p:cNvGrpSpPr/>
        <p:nvPr/>
      </p:nvGrpSpPr>
      <p:grpSpPr>
        <a:xfrm>
          <a:off x="0" y="0"/>
          <a:ext cx="0" cy="0"/>
          <a:chOff x="0" y="0"/>
          <a:chExt cx="0" cy="0"/>
        </a:xfrm>
      </p:grpSpPr>
      <p:grpSp>
        <p:nvGrpSpPr>
          <p:cNvPr name="Group 2" id="2"/>
          <p:cNvGrpSpPr/>
          <p:nvPr/>
        </p:nvGrpSpPr>
        <p:grpSpPr>
          <a:xfrm rot="0">
            <a:off x="9555197" y="3903296"/>
            <a:ext cx="2280475" cy="864007"/>
            <a:chOff x="0" y="0"/>
            <a:chExt cx="746556" cy="282849"/>
          </a:xfrm>
        </p:grpSpPr>
        <p:sp>
          <p:nvSpPr>
            <p:cNvPr name="Freeform 3" id="3"/>
            <p:cNvSpPr/>
            <p:nvPr/>
          </p:nvSpPr>
          <p:spPr>
            <a:xfrm flipH="false" flipV="false" rot="0">
              <a:off x="0" y="0"/>
              <a:ext cx="746556" cy="282849"/>
            </a:xfrm>
            <a:custGeom>
              <a:avLst/>
              <a:gdLst/>
              <a:ahLst/>
              <a:cxnLst/>
              <a:rect r="r" b="b" t="t" l="l"/>
              <a:pathLst>
                <a:path h="282849" w="746556">
                  <a:moveTo>
                    <a:pt x="91662" y="0"/>
                  </a:moveTo>
                  <a:lnTo>
                    <a:pt x="654895" y="0"/>
                  </a:lnTo>
                  <a:cubicBezTo>
                    <a:pt x="679205" y="0"/>
                    <a:pt x="702519" y="9657"/>
                    <a:pt x="719709" y="26847"/>
                  </a:cubicBezTo>
                  <a:cubicBezTo>
                    <a:pt x="736899" y="44037"/>
                    <a:pt x="746556" y="67351"/>
                    <a:pt x="746556" y="91662"/>
                  </a:cubicBezTo>
                  <a:lnTo>
                    <a:pt x="746556" y="191187"/>
                  </a:lnTo>
                  <a:cubicBezTo>
                    <a:pt x="746556" y="215498"/>
                    <a:pt x="736899" y="238812"/>
                    <a:pt x="719709" y="256002"/>
                  </a:cubicBezTo>
                  <a:cubicBezTo>
                    <a:pt x="702519" y="273192"/>
                    <a:pt x="679205" y="282849"/>
                    <a:pt x="654895" y="282849"/>
                  </a:cubicBezTo>
                  <a:lnTo>
                    <a:pt x="91662" y="282849"/>
                  </a:lnTo>
                  <a:cubicBezTo>
                    <a:pt x="67351" y="282849"/>
                    <a:pt x="44037" y="273192"/>
                    <a:pt x="26847" y="256002"/>
                  </a:cubicBezTo>
                  <a:cubicBezTo>
                    <a:pt x="9657" y="238812"/>
                    <a:pt x="0" y="215498"/>
                    <a:pt x="0" y="191187"/>
                  </a:cubicBezTo>
                  <a:lnTo>
                    <a:pt x="0" y="91662"/>
                  </a:lnTo>
                  <a:cubicBezTo>
                    <a:pt x="0" y="67351"/>
                    <a:pt x="9657" y="44037"/>
                    <a:pt x="26847" y="26847"/>
                  </a:cubicBezTo>
                  <a:cubicBezTo>
                    <a:pt x="44037" y="9657"/>
                    <a:pt x="67351" y="0"/>
                    <a:pt x="91662"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4" id="4"/>
            <p:cNvSpPr txBox="true"/>
            <p:nvPr/>
          </p:nvSpPr>
          <p:spPr>
            <a:xfrm>
              <a:off x="0" y="-38100"/>
              <a:ext cx="746556" cy="320949"/>
            </a:xfrm>
            <a:prstGeom prst="rect">
              <a:avLst/>
            </a:prstGeom>
          </p:spPr>
          <p:txBody>
            <a:bodyPr anchor="ctr" rtlCol="false" tIns="50800" lIns="50800" bIns="50800" rIns="50800"/>
            <a:lstStyle/>
            <a:p>
              <a:pPr algn="ctr" marL="0" indent="0" lvl="0">
                <a:lnSpc>
                  <a:spcPts val="2520"/>
                </a:lnSpc>
              </a:pPr>
            </a:p>
          </p:txBody>
        </p:sp>
      </p:grpSp>
      <p:grpSp>
        <p:nvGrpSpPr>
          <p:cNvPr name="Group 5" id="5"/>
          <p:cNvGrpSpPr/>
          <p:nvPr/>
        </p:nvGrpSpPr>
        <p:grpSpPr>
          <a:xfrm rot="0">
            <a:off x="12036726" y="3903296"/>
            <a:ext cx="2280475" cy="864007"/>
            <a:chOff x="0" y="0"/>
            <a:chExt cx="746556" cy="282849"/>
          </a:xfrm>
        </p:grpSpPr>
        <p:sp>
          <p:nvSpPr>
            <p:cNvPr name="Freeform 6" id="6"/>
            <p:cNvSpPr/>
            <p:nvPr/>
          </p:nvSpPr>
          <p:spPr>
            <a:xfrm flipH="false" flipV="false" rot="0">
              <a:off x="0" y="0"/>
              <a:ext cx="746556" cy="282849"/>
            </a:xfrm>
            <a:custGeom>
              <a:avLst/>
              <a:gdLst/>
              <a:ahLst/>
              <a:cxnLst/>
              <a:rect r="r" b="b" t="t" l="l"/>
              <a:pathLst>
                <a:path h="282849" w="746556">
                  <a:moveTo>
                    <a:pt x="91662" y="0"/>
                  </a:moveTo>
                  <a:lnTo>
                    <a:pt x="654895" y="0"/>
                  </a:lnTo>
                  <a:cubicBezTo>
                    <a:pt x="679205" y="0"/>
                    <a:pt x="702519" y="9657"/>
                    <a:pt x="719709" y="26847"/>
                  </a:cubicBezTo>
                  <a:cubicBezTo>
                    <a:pt x="736899" y="44037"/>
                    <a:pt x="746556" y="67351"/>
                    <a:pt x="746556" y="91662"/>
                  </a:cubicBezTo>
                  <a:lnTo>
                    <a:pt x="746556" y="191187"/>
                  </a:lnTo>
                  <a:cubicBezTo>
                    <a:pt x="746556" y="215498"/>
                    <a:pt x="736899" y="238812"/>
                    <a:pt x="719709" y="256002"/>
                  </a:cubicBezTo>
                  <a:cubicBezTo>
                    <a:pt x="702519" y="273192"/>
                    <a:pt x="679205" y="282849"/>
                    <a:pt x="654895" y="282849"/>
                  </a:cubicBezTo>
                  <a:lnTo>
                    <a:pt x="91662" y="282849"/>
                  </a:lnTo>
                  <a:cubicBezTo>
                    <a:pt x="67351" y="282849"/>
                    <a:pt x="44037" y="273192"/>
                    <a:pt x="26847" y="256002"/>
                  </a:cubicBezTo>
                  <a:cubicBezTo>
                    <a:pt x="9657" y="238812"/>
                    <a:pt x="0" y="215498"/>
                    <a:pt x="0" y="191187"/>
                  </a:cubicBezTo>
                  <a:lnTo>
                    <a:pt x="0" y="91662"/>
                  </a:lnTo>
                  <a:cubicBezTo>
                    <a:pt x="0" y="67351"/>
                    <a:pt x="9657" y="44037"/>
                    <a:pt x="26847" y="26847"/>
                  </a:cubicBezTo>
                  <a:cubicBezTo>
                    <a:pt x="44037" y="9657"/>
                    <a:pt x="67351" y="0"/>
                    <a:pt x="91662"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7" id="7"/>
            <p:cNvSpPr txBox="true"/>
            <p:nvPr/>
          </p:nvSpPr>
          <p:spPr>
            <a:xfrm>
              <a:off x="0" y="-38100"/>
              <a:ext cx="746556" cy="320949"/>
            </a:xfrm>
            <a:prstGeom prst="rect">
              <a:avLst/>
            </a:prstGeom>
          </p:spPr>
          <p:txBody>
            <a:bodyPr anchor="ctr" rtlCol="false" tIns="50800" lIns="50800" bIns="50800" rIns="50800"/>
            <a:lstStyle/>
            <a:p>
              <a:pPr algn="ctr" marL="0" indent="0" lvl="0">
                <a:lnSpc>
                  <a:spcPts val="2520"/>
                </a:lnSpc>
              </a:pPr>
            </a:p>
          </p:txBody>
        </p:sp>
      </p:grpSp>
      <p:grpSp>
        <p:nvGrpSpPr>
          <p:cNvPr name="Group 8" id="8"/>
          <p:cNvGrpSpPr/>
          <p:nvPr/>
        </p:nvGrpSpPr>
        <p:grpSpPr>
          <a:xfrm rot="0">
            <a:off x="14516440" y="3903296"/>
            <a:ext cx="2280475" cy="864007"/>
            <a:chOff x="0" y="0"/>
            <a:chExt cx="746556" cy="282849"/>
          </a:xfrm>
        </p:grpSpPr>
        <p:sp>
          <p:nvSpPr>
            <p:cNvPr name="Freeform 9" id="9"/>
            <p:cNvSpPr/>
            <p:nvPr/>
          </p:nvSpPr>
          <p:spPr>
            <a:xfrm flipH="false" flipV="false" rot="0">
              <a:off x="0" y="0"/>
              <a:ext cx="746556" cy="282849"/>
            </a:xfrm>
            <a:custGeom>
              <a:avLst/>
              <a:gdLst/>
              <a:ahLst/>
              <a:cxnLst/>
              <a:rect r="r" b="b" t="t" l="l"/>
              <a:pathLst>
                <a:path h="282849" w="746556">
                  <a:moveTo>
                    <a:pt x="91662" y="0"/>
                  </a:moveTo>
                  <a:lnTo>
                    <a:pt x="654895" y="0"/>
                  </a:lnTo>
                  <a:cubicBezTo>
                    <a:pt x="679205" y="0"/>
                    <a:pt x="702519" y="9657"/>
                    <a:pt x="719709" y="26847"/>
                  </a:cubicBezTo>
                  <a:cubicBezTo>
                    <a:pt x="736899" y="44037"/>
                    <a:pt x="746556" y="67351"/>
                    <a:pt x="746556" y="91662"/>
                  </a:cubicBezTo>
                  <a:lnTo>
                    <a:pt x="746556" y="191187"/>
                  </a:lnTo>
                  <a:cubicBezTo>
                    <a:pt x="746556" y="215498"/>
                    <a:pt x="736899" y="238812"/>
                    <a:pt x="719709" y="256002"/>
                  </a:cubicBezTo>
                  <a:cubicBezTo>
                    <a:pt x="702519" y="273192"/>
                    <a:pt x="679205" y="282849"/>
                    <a:pt x="654895" y="282849"/>
                  </a:cubicBezTo>
                  <a:lnTo>
                    <a:pt x="91662" y="282849"/>
                  </a:lnTo>
                  <a:cubicBezTo>
                    <a:pt x="67351" y="282849"/>
                    <a:pt x="44037" y="273192"/>
                    <a:pt x="26847" y="256002"/>
                  </a:cubicBezTo>
                  <a:cubicBezTo>
                    <a:pt x="9657" y="238812"/>
                    <a:pt x="0" y="215498"/>
                    <a:pt x="0" y="191187"/>
                  </a:cubicBezTo>
                  <a:lnTo>
                    <a:pt x="0" y="91662"/>
                  </a:lnTo>
                  <a:cubicBezTo>
                    <a:pt x="0" y="67351"/>
                    <a:pt x="9657" y="44037"/>
                    <a:pt x="26847" y="26847"/>
                  </a:cubicBezTo>
                  <a:cubicBezTo>
                    <a:pt x="44037" y="9657"/>
                    <a:pt x="67351" y="0"/>
                    <a:pt x="91662"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10" id="10"/>
            <p:cNvSpPr txBox="true"/>
            <p:nvPr/>
          </p:nvSpPr>
          <p:spPr>
            <a:xfrm>
              <a:off x="0" y="-38100"/>
              <a:ext cx="746556" cy="320949"/>
            </a:xfrm>
            <a:prstGeom prst="rect">
              <a:avLst/>
            </a:prstGeom>
          </p:spPr>
          <p:txBody>
            <a:bodyPr anchor="ctr" rtlCol="false" tIns="50800" lIns="50800" bIns="50800" rIns="50800"/>
            <a:lstStyle/>
            <a:p>
              <a:pPr algn="ctr" marL="0" indent="0" lvl="0">
                <a:lnSpc>
                  <a:spcPts val="2520"/>
                </a:lnSpc>
              </a:pPr>
            </a:p>
          </p:txBody>
        </p:sp>
      </p:grpSp>
      <p:sp>
        <p:nvSpPr>
          <p:cNvPr name="AutoShape 11" id="11"/>
          <p:cNvSpPr/>
          <p:nvPr/>
        </p:nvSpPr>
        <p:spPr>
          <a:xfrm>
            <a:off x="10565397" y="3471088"/>
            <a:ext cx="5223132" cy="0"/>
          </a:xfrm>
          <a:prstGeom prst="line">
            <a:avLst/>
          </a:prstGeom>
          <a:ln cap="flat" w="19050">
            <a:solidFill>
              <a:srgbClr val="F8F8F8"/>
            </a:solidFill>
            <a:prstDash val="solid"/>
            <a:headEnd type="none" len="sm" w="sm"/>
            <a:tailEnd type="none" len="sm" w="sm"/>
          </a:ln>
        </p:spPr>
      </p:sp>
      <p:grpSp>
        <p:nvGrpSpPr>
          <p:cNvPr name="Group 12" id="12"/>
          <p:cNvGrpSpPr/>
          <p:nvPr/>
        </p:nvGrpSpPr>
        <p:grpSpPr>
          <a:xfrm rot="0">
            <a:off x="10473290" y="3360016"/>
            <a:ext cx="222144" cy="22214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grpSp>
        <p:nvGrpSpPr>
          <p:cNvPr name="Group 15" id="15"/>
          <p:cNvGrpSpPr/>
          <p:nvPr/>
        </p:nvGrpSpPr>
        <p:grpSpPr>
          <a:xfrm rot="0">
            <a:off x="13065891" y="3360016"/>
            <a:ext cx="222144" cy="22214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grpSp>
        <p:nvGrpSpPr>
          <p:cNvPr name="Group 18" id="18"/>
          <p:cNvGrpSpPr/>
          <p:nvPr/>
        </p:nvGrpSpPr>
        <p:grpSpPr>
          <a:xfrm rot="0">
            <a:off x="15621811" y="3360016"/>
            <a:ext cx="222144" cy="22214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pPr>
            </a:p>
          </p:txBody>
        </p:sp>
      </p:grpSp>
      <p:sp>
        <p:nvSpPr>
          <p:cNvPr name="TextBox 21" id="21"/>
          <p:cNvSpPr txBox="true"/>
          <p:nvPr/>
        </p:nvSpPr>
        <p:spPr>
          <a:xfrm rot="0">
            <a:off x="1028700" y="2233993"/>
            <a:ext cx="7154517" cy="470706"/>
          </a:xfrm>
          <a:prstGeom prst="rect">
            <a:avLst/>
          </a:prstGeom>
        </p:spPr>
        <p:txBody>
          <a:bodyPr anchor="t" rtlCol="false" tIns="0" lIns="0" bIns="0" rIns="0">
            <a:spAutoFit/>
          </a:bodyPr>
          <a:lstStyle/>
          <a:p>
            <a:pPr algn="l" marL="0" indent="0" lvl="0">
              <a:lnSpc>
                <a:spcPts val="3644"/>
              </a:lnSpc>
            </a:pPr>
            <a:r>
              <a:rPr lang="en-US" sz="3313" spc="-198">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Purchase Frequency &amp; Seasonality</a:t>
            </a:r>
          </a:p>
        </p:txBody>
      </p:sp>
      <p:sp>
        <p:nvSpPr>
          <p:cNvPr name="TextBox 22" id="22"/>
          <p:cNvSpPr txBox="true"/>
          <p:nvPr/>
        </p:nvSpPr>
        <p:spPr>
          <a:xfrm rot="0">
            <a:off x="11662528" y="2566901"/>
            <a:ext cx="3028871" cy="240116"/>
          </a:xfrm>
          <a:prstGeom prst="rect">
            <a:avLst/>
          </a:prstGeom>
        </p:spPr>
        <p:txBody>
          <a:bodyPr anchor="t" rtlCol="false" tIns="0" lIns="0" bIns="0" rIns="0">
            <a:spAutoFit/>
          </a:bodyPr>
          <a:lstStyle/>
          <a:p>
            <a:pPr algn="ctr" marL="0" indent="0" lvl="0">
              <a:lnSpc>
                <a:spcPts val="1822"/>
              </a:lnSpc>
            </a:pPr>
            <a:r>
              <a:rPr lang="en-US" b="true" sz="1656" spc="-99">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2026 Data</a:t>
            </a:r>
          </a:p>
        </p:txBody>
      </p:sp>
      <p:sp>
        <p:nvSpPr>
          <p:cNvPr name="TextBox 23" id="23"/>
          <p:cNvSpPr txBox="true"/>
          <p:nvPr/>
        </p:nvSpPr>
        <p:spPr>
          <a:xfrm rot="0">
            <a:off x="1835244" y="6632893"/>
            <a:ext cx="1897032" cy="468716"/>
          </a:xfrm>
          <a:prstGeom prst="rect">
            <a:avLst/>
          </a:prstGeom>
        </p:spPr>
        <p:txBody>
          <a:bodyPr anchor="t" rtlCol="false" tIns="0" lIns="0" bIns="0" rIns="0">
            <a:spAutoFit/>
          </a:bodyPr>
          <a:lstStyle/>
          <a:p>
            <a:pPr algn="l" marL="0" indent="0" lvl="0">
              <a:lnSpc>
                <a:spcPts val="1822"/>
              </a:lnSpc>
            </a:pPr>
            <a:r>
              <a:rPr lang="en-US" b="true" sz="1656" spc="-33">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Purchase Frequency</a:t>
            </a:r>
          </a:p>
        </p:txBody>
      </p:sp>
      <p:sp>
        <p:nvSpPr>
          <p:cNvPr name="TextBox 24" id="24"/>
          <p:cNvSpPr txBox="true"/>
          <p:nvPr/>
        </p:nvSpPr>
        <p:spPr>
          <a:xfrm rot="0">
            <a:off x="8953500" y="6632893"/>
            <a:ext cx="2128861" cy="240116"/>
          </a:xfrm>
          <a:prstGeom prst="rect">
            <a:avLst/>
          </a:prstGeom>
        </p:spPr>
        <p:txBody>
          <a:bodyPr anchor="t" rtlCol="false" tIns="0" lIns="0" bIns="0" rIns="0">
            <a:spAutoFit/>
          </a:bodyPr>
          <a:lstStyle/>
          <a:p>
            <a:pPr algn="l" marL="0" indent="0" lvl="0">
              <a:lnSpc>
                <a:spcPts val="1822"/>
              </a:lnSpc>
            </a:pPr>
            <a:r>
              <a:rPr lang="en-US" b="true" sz="1656" spc="-33">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Seasonality</a:t>
            </a:r>
          </a:p>
        </p:txBody>
      </p:sp>
      <p:sp>
        <p:nvSpPr>
          <p:cNvPr name="TextBox 25" id="25"/>
          <p:cNvSpPr txBox="true"/>
          <p:nvPr/>
        </p:nvSpPr>
        <p:spPr>
          <a:xfrm rot="0">
            <a:off x="1835244" y="7179491"/>
            <a:ext cx="4257722" cy="746760"/>
          </a:xfrm>
          <a:prstGeom prst="rect">
            <a:avLst/>
          </a:prstGeom>
        </p:spPr>
        <p:txBody>
          <a:bodyPr anchor="t" rtlCol="false" tIns="0" lIns="0" bIns="0" rIns="0">
            <a:spAutoFit/>
          </a:bodyPr>
          <a:lstStyle/>
          <a:p>
            <a:pPr algn="l" marL="0" indent="0" lvl="0">
              <a:lnSpc>
                <a:spcPts val="1980"/>
              </a:lnSpc>
            </a:pPr>
            <a:r>
              <a:rPr lang="en-US" sz="1800" spc="-36">
                <a:solidFill>
                  <a:srgbClr val="F8F8F8"/>
                </a:solidFill>
                <a:latin typeface="Inter"/>
                <a:ea typeface="Inter"/>
                <a:cs typeface="Inter"/>
                <a:sym typeface="Inter"/>
              </a:rPr>
              <a:t>Every 3 Months: 584 customers (most common), Weekly: 539 (smallest segment)</a:t>
            </a:r>
          </a:p>
        </p:txBody>
      </p:sp>
      <p:sp>
        <p:nvSpPr>
          <p:cNvPr name="TextBox 26" id="26"/>
          <p:cNvSpPr txBox="true"/>
          <p:nvPr/>
        </p:nvSpPr>
        <p:spPr>
          <a:xfrm rot="0">
            <a:off x="1028700" y="6695123"/>
            <a:ext cx="711294" cy="199386"/>
          </a:xfrm>
          <a:prstGeom prst="rect">
            <a:avLst/>
          </a:prstGeom>
        </p:spPr>
        <p:txBody>
          <a:bodyPr anchor="t" rtlCol="false" tIns="0" lIns="0" bIns="0" rIns="0">
            <a:spAutoFit/>
          </a:bodyPr>
          <a:lstStyle/>
          <a:p>
            <a:pPr algn="l" marL="0" indent="0" lvl="0">
              <a:lnSpc>
                <a:spcPts val="1594"/>
              </a:lnSpc>
            </a:pPr>
            <a:r>
              <a:rPr lang="en-US" sz="1449" spc="-86">
                <a:solidFill>
                  <a:srgbClr val="C1FF72"/>
                </a:solidFill>
                <a:latin typeface="Inter"/>
                <a:ea typeface="Inter"/>
                <a:cs typeface="Inter"/>
                <a:sym typeface="Inter"/>
              </a:rPr>
              <a:t>01</a:t>
            </a:r>
          </a:p>
        </p:txBody>
      </p:sp>
      <p:sp>
        <p:nvSpPr>
          <p:cNvPr name="TextBox 27" id="27"/>
          <p:cNvSpPr txBox="true"/>
          <p:nvPr/>
        </p:nvSpPr>
        <p:spPr>
          <a:xfrm rot="0">
            <a:off x="8183217" y="6695123"/>
            <a:ext cx="711294" cy="199386"/>
          </a:xfrm>
          <a:prstGeom prst="rect">
            <a:avLst/>
          </a:prstGeom>
        </p:spPr>
        <p:txBody>
          <a:bodyPr anchor="t" rtlCol="false" tIns="0" lIns="0" bIns="0" rIns="0">
            <a:spAutoFit/>
          </a:bodyPr>
          <a:lstStyle/>
          <a:p>
            <a:pPr algn="l" marL="0" indent="0" lvl="0">
              <a:lnSpc>
                <a:spcPts val="1594"/>
              </a:lnSpc>
            </a:pPr>
            <a:r>
              <a:rPr lang="en-US" sz="1449" spc="-86">
                <a:solidFill>
                  <a:srgbClr val="C1FF72"/>
                </a:solidFill>
                <a:latin typeface="Inter"/>
                <a:ea typeface="Inter"/>
                <a:cs typeface="Inter"/>
                <a:sym typeface="Inter"/>
              </a:rPr>
              <a:t>02</a:t>
            </a:r>
          </a:p>
        </p:txBody>
      </p:sp>
      <p:sp>
        <p:nvSpPr>
          <p:cNvPr name="TextBox 28" id="28"/>
          <p:cNvSpPr txBox="true"/>
          <p:nvPr/>
        </p:nvSpPr>
        <p:spPr>
          <a:xfrm rot="0">
            <a:off x="8183217" y="8429127"/>
            <a:ext cx="711294" cy="199386"/>
          </a:xfrm>
          <a:prstGeom prst="rect">
            <a:avLst/>
          </a:prstGeom>
        </p:spPr>
        <p:txBody>
          <a:bodyPr anchor="t" rtlCol="false" tIns="0" lIns="0" bIns="0" rIns="0">
            <a:spAutoFit/>
          </a:bodyPr>
          <a:lstStyle/>
          <a:p>
            <a:pPr algn="l" marL="0" indent="0" lvl="0">
              <a:lnSpc>
                <a:spcPts val="1594"/>
              </a:lnSpc>
            </a:pPr>
            <a:r>
              <a:rPr lang="en-US" sz="1449" spc="-86">
                <a:solidFill>
                  <a:srgbClr val="C1FF72"/>
                </a:solidFill>
                <a:latin typeface="Inter"/>
                <a:ea typeface="Inter"/>
                <a:cs typeface="Inter"/>
                <a:sym typeface="Inter"/>
              </a:rPr>
              <a:t>03</a:t>
            </a:r>
          </a:p>
        </p:txBody>
      </p:sp>
      <p:sp>
        <p:nvSpPr>
          <p:cNvPr name="TextBox 29" id="29"/>
          <p:cNvSpPr txBox="true"/>
          <p:nvPr/>
        </p:nvSpPr>
        <p:spPr>
          <a:xfrm rot="0">
            <a:off x="8953500" y="7179491"/>
            <a:ext cx="7432393" cy="251460"/>
          </a:xfrm>
          <a:prstGeom prst="rect">
            <a:avLst/>
          </a:prstGeom>
        </p:spPr>
        <p:txBody>
          <a:bodyPr anchor="t" rtlCol="false" tIns="0" lIns="0" bIns="0" rIns="0">
            <a:spAutoFit/>
          </a:bodyPr>
          <a:lstStyle/>
          <a:p>
            <a:pPr algn="l" marL="0" indent="0" lvl="0">
              <a:lnSpc>
                <a:spcPts val="1980"/>
              </a:lnSpc>
            </a:pPr>
            <a:r>
              <a:rPr lang="en-US" sz="1800" spc="-36">
                <a:solidFill>
                  <a:srgbClr val="F8F8F8"/>
                </a:solidFill>
                <a:latin typeface="Inter"/>
                <a:ea typeface="Inter"/>
                <a:cs typeface="Inter"/>
                <a:sym typeface="Inter"/>
              </a:rPr>
              <a:t>Spring: 999 | Fall: 975 | Winter: 971 | Summer: 955 transactions</a:t>
            </a:r>
          </a:p>
        </p:txBody>
      </p:sp>
      <p:sp>
        <p:nvSpPr>
          <p:cNvPr name="TextBox 30" id="30"/>
          <p:cNvSpPr txBox="true"/>
          <p:nvPr/>
        </p:nvSpPr>
        <p:spPr>
          <a:xfrm rot="0">
            <a:off x="9728340" y="4173428"/>
            <a:ext cx="1934188" cy="229552"/>
          </a:xfrm>
          <a:prstGeom prst="rect">
            <a:avLst/>
          </a:prstGeom>
        </p:spPr>
        <p:txBody>
          <a:bodyPr anchor="t" rtlCol="false" tIns="0" lIns="0" bIns="0" rIns="0">
            <a:spAutoFit/>
          </a:bodyPr>
          <a:lstStyle/>
          <a:p>
            <a:pPr algn="ctr" marL="0" indent="0" lvl="0">
              <a:lnSpc>
                <a:spcPts val="1732"/>
              </a:lnSpc>
            </a:pPr>
            <a:r>
              <a:rPr lang="en-US" b="true" sz="1574" spc="-94">
                <a:solidFill>
                  <a:srgbClr val="111111"/>
                </a:solidFill>
                <a:latin typeface="Inter Semi-Bold"/>
                <a:ea typeface="Inter Semi-Bold"/>
                <a:cs typeface="Inter Semi-Bold"/>
                <a:sym typeface="Inter Semi-Bold"/>
              </a:rPr>
              <a:t>Spring</a:t>
            </a:r>
          </a:p>
        </p:txBody>
      </p:sp>
      <p:sp>
        <p:nvSpPr>
          <p:cNvPr name="TextBox 31" id="31"/>
          <p:cNvSpPr txBox="true"/>
          <p:nvPr/>
        </p:nvSpPr>
        <p:spPr>
          <a:xfrm rot="0">
            <a:off x="12209869" y="4173428"/>
            <a:ext cx="1934188" cy="229552"/>
          </a:xfrm>
          <a:prstGeom prst="rect">
            <a:avLst/>
          </a:prstGeom>
        </p:spPr>
        <p:txBody>
          <a:bodyPr anchor="t" rtlCol="false" tIns="0" lIns="0" bIns="0" rIns="0">
            <a:spAutoFit/>
          </a:bodyPr>
          <a:lstStyle/>
          <a:p>
            <a:pPr algn="ctr" marL="0" indent="0" lvl="0">
              <a:lnSpc>
                <a:spcPts val="1732"/>
              </a:lnSpc>
            </a:pPr>
            <a:r>
              <a:rPr lang="en-US" b="true" sz="1574" spc="-94">
                <a:solidFill>
                  <a:srgbClr val="111111"/>
                </a:solidFill>
                <a:latin typeface="Inter Semi-Bold"/>
                <a:ea typeface="Inter Semi-Bold"/>
                <a:cs typeface="Inter Semi-Bold"/>
                <a:sym typeface="Inter Semi-Bold"/>
              </a:rPr>
              <a:t>Summer</a:t>
            </a:r>
          </a:p>
        </p:txBody>
      </p:sp>
      <p:sp>
        <p:nvSpPr>
          <p:cNvPr name="TextBox 32" id="32"/>
          <p:cNvSpPr txBox="true"/>
          <p:nvPr/>
        </p:nvSpPr>
        <p:spPr>
          <a:xfrm rot="0">
            <a:off x="14689583" y="4173428"/>
            <a:ext cx="1934188" cy="229552"/>
          </a:xfrm>
          <a:prstGeom prst="rect">
            <a:avLst/>
          </a:prstGeom>
        </p:spPr>
        <p:txBody>
          <a:bodyPr anchor="t" rtlCol="false" tIns="0" lIns="0" bIns="0" rIns="0">
            <a:spAutoFit/>
          </a:bodyPr>
          <a:lstStyle/>
          <a:p>
            <a:pPr algn="ctr" marL="0" indent="0" lvl="0">
              <a:lnSpc>
                <a:spcPts val="1732"/>
              </a:lnSpc>
            </a:pPr>
            <a:r>
              <a:rPr lang="en-US" b="true" sz="1574" spc="-94">
                <a:solidFill>
                  <a:srgbClr val="111111"/>
                </a:solidFill>
                <a:latin typeface="Inter Semi-Bold"/>
                <a:ea typeface="Inter Semi-Bold"/>
                <a:cs typeface="Inter Semi-Bold"/>
                <a:sym typeface="Inter Semi-Bold"/>
              </a:rPr>
              <a:t>Fall / Winter</a:t>
            </a:r>
          </a:p>
        </p:txBody>
      </p:sp>
      <p:sp>
        <p:nvSpPr>
          <p:cNvPr name="TextBox 33" id="33"/>
          <p:cNvSpPr txBox="true"/>
          <p:nvPr/>
        </p:nvSpPr>
        <p:spPr>
          <a:xfrm rot="0">
            <a:off x="1028700" y="3884246"/>
            <a:ext cx="6865637" cy="6991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F8F8F8"/>
                </a:solidFill>
                <a:latin typeface="Inter"/>
                <a:ea typeface="Inter"/>
                <a:cs typeface="Inter"/>
                <a:sym typeface="Inter"/>
              </a:rPr>
              <a:t>Purchase frequency is evenly spread from weekly to annual buyers. Seasonal transactions are stable year-round with consistent average purchase amounts of $59.4–$60.2.</a:t>
            </a:r>
          </a:p>
        </p:txBody>
      </p:sp>
      <p:sp>
        <p:nvSpPr>
          <p:cNvPr name="TextBox 34" id="34"/>
          <p:cNvSpPr txBox="true"/>
          <p:nvPr/>
        </p:nvSpPr>
        <p:spPr>
          <a:xfrm rot="0">
            <a:off x="8953500" y="8366897"/>
            <a:ext cx="2425224" cy="240116"/>
          </a:xfrm>
          <a:prstGeom prst="rect">
            <a:avLst/>
          </a:prstGeom>
        </p:spPr>
        <p:txBody>
          <a:bodyPr anchor="t" rtlCol="false" tIns="0" lIns="0" bIns="0" rIns="0">
            <a:spAutoFit/>
          </a:bodyPr>
          <a:lstStyle/>
          <a:p>
            <a:pPr algn="l" marL="0" indent="0" lvl="0">
              <a:lnSpc>
                <a:spcPts val="1822"/>
              </a:lnSpc>
            </a:pPr>
            <a:r>
              <a:rPr lang="en-US" b="true" sz="1656" spc="-33">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Avg. Purchase</a:t>
            </a:r>
          </a:p>
        </p:txBody>
      </p:sp>
      <p:sp>
        <p:nvSpPr>
          <p:cNvPr name="TextBox 35" id="35"/>
          <p:cNvSpPr txBox="true"/>
          <p:nvPr/>
        </p:nvSpPr>
        <p:spPr>
          <a:xfrm rot="0">
            <a:off x="8953500" y="8913495"/>
            <a:ext cx="7804150" cy="251460"/>
          </a:xfrm>
          <a:prstGeom prst="rect">
            <a:avLst/>
          </a:prstGeom>
        </p:spPr>
        <p:txBody>
          <a:bodyPr anchor="t" rtlCol="false" tIns="0" lIns="0" bIns="0" rIns="0">
            <a:spAutoFit/>
          </a:bodyPr>
          <a:lstStyle/>
          <a:p>
            <a:pPr algn="l" marL="0" indent="0" lvl="0">
              <a:lnSpc>
                <a:spcPts val="1980"/>
              </a:lnSpc>
            </a:pPr>
            <a:r>
              <a:rPr lang="en-US" sz="1800" spc="-36">
                <a:solidFill>
                  <a:srgbClr val="F8F8F8"/>
                </a:solidFill>
                <a:latin typeface="Inter"/>
                <a:ea typeface="Inter"/>
                <a:cs typeface="Inter"/>
                <a:sym typeface="Inter"/>
              </a:rPr>
              <a:t>Stable across all seasons: $59.4 – $60.2 per transaction</a:t>
            </a:r>
          </a:p>
        </p:txBody>
      </p:sp>
      <p:sp>
        <p:nvSpPr>
          <p:cNvPr name="TextBox 36" id="36"/>
          <p:cNvSpPr txBox="true"/>
          <p:nvPr/>
        </p:nvSpPr>
        <p:spPr>
          <a:xfrm rot="0">
            <a:off x="14935479" y="1066800"/>
            <a:ext cx="2323821" cy="207645"/>
          </a:xfrm>
          <a:prstGeom prst="rect">
            <a:avLst/>
          </a:prstGeom>
        </p:spPr>
        <p:txBody>
          <a:bodyPr anchor="t" rtlCol="false" tIns="0" lIns="0" bIns="0" rIns="0">
            <a:spAutoFit/>
          </a:bodyPr>
          <a:lstStyle/>
          <a:p>
            <a:pPr algn="r" marL="0" indent="0" lvl="0">
              <a:lnSpc>
                <a:spcPts val="1679"/>
              </a:lnSpc>
            </a:pPr>
            <a:r>
              <a:rPr lang="en-US" sz="1200">
                <a:solidFill>
                  <a:srgbClr val="F8F8F8"/>
                </a:solidFill>
                <a:latin typeface="Inter"/>
                <a:ea typeface="Inter"/>
                <a:cs typeface="Inter"/>
                <a:sym typeface="Inter"/>
              </a:rPr>
              <a:t>2026</a:t>
            </a:r>
          </a:p>
        </p:txBody>
      </p:sp>
      <p:sp>
        <p:nvSpPr>
          <p:cNvPr name="TextBox 37" id="37"/>
          <p:cNvSpPr txBox="true"/>
          <p:nvPr/>
        </p:nvSpPr>
        <p:spPr>
          <a:xfrm rot="0">
            <a:off x="6755761" y="1066800"/>
            <a:ext cx="4776478" cy="207645"/>
          </a:xfrm>
          <a:prstGeom prst="rect">
            <a:avLst/>
          </a:prstGeom>
        </p:spPr>
        <p:txBody>
          <a:bodyPr anchor="t" rtlCol="false" tIns="0" lIns="0" bIns="0" rIns="0">
            <a:spAutoFit/>
          </a:bodyPr>
          <a:lstStyle/>
          <a:p>
            <a:pPr algn="ctr" marL="0" indent="0" lvl="0">
              <a:lnSpc>
                <a:spcPts val="1679"/>
              </a:lnSpc>
            </a:pPr>
            <a:r>
              <a:rPr lang="en-US" sz="1200">
                <a:solidFill>
                  <a:srgbClr val="F8F8F8">
                    <a:alpha val="69804"/>
                  </a:srgbClr>
                </a:solidFill>
                <a:latin typeface="Inter"/>
                <a:ea typeface="Inter"/>
                <a:cs typeface="Inter"/>
                <a:sym typeface="Inter"/>
              </a:rPr>
              <a:t>Customer Shopping Behaviour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grpSp>
        <p:nvGrpSpPr>
          <p:cNvPr name="Group 2" id="2"/>
          <p:cNvGrpSpPr/>
          <p:nvPr/>
        </p:nvGrpSpPr>
        <p:grpSpPr>
          <a:xfrm rot="0">
            <a:off x="10073870" y="5118781"/>
            <a:ext cx="7455473" cy="4139519"/>
            <a:chOff x="0" y="0"/>
            <a:chExt cx="1251289" cy="694756"/>
          </a:xfrm>
        </p:grpSpPr>
        <p:sp>
          <p:nvSpPr>
            <p:cNvPr name="Freeform 3" id="3"/>
            <p:cNvSpPr/>
            <p:nvPr/>
          </p:nvSpPr>
          <p:spPr>
            <a:xfrm flipH="false" flipV="false" rot="0">
              <a:off x="0" y="0"/>
              <a:ext cx="1251289" cy="694756"/>
            </a:xfrm>
            <a:custGeom>
              <a:avLst/>
              <a:gdLst/>
              <a:ahLst/>
              <a:cxnLst/>
              <a:rect r="r" b="b" t="t" l="l"/>
              <a:pathLst>
                <a:path h="694756" w="1251289">
                  <a:moveTo>
                    <a:pt x="51921" y="0"/>
                  </a:moveTo>
                  <a:lnTo>
                    <a:pt x="1199368" y="0"/>
                  </a:lnTo>
                  <a:cubicBezTo>
                    <a:pt x="1228043" y="0"/>
                    <a:pt x="1251289" y="23246"/>
                    <a:pt x="1251289" y="51921"/>
                  </a:cubicBezTo>
                  <a:lnTo>
                    <a:pt x="1251289" y="642835"/>
                  </a:lnTo>
                  <a:cubicBezTo>
                    <a:pt x="1251289" y="671510"/>
                    <a:pt x="1228043" y="694756"/>
                    <a:pt x="1199368" y="694756"/>
                  </a:cubicBezTo>
                  <a:lnTo>
                    <a:pt x="51921" y="694756"/>
                  </a:lnTo>
                  <a:cubicBezTo>
                    <a:pt x="23246" y="694756"/>
                    <a:pt x="0" y="671510"/>
                    <a:pt x="0" y="642835"/>
                  </a:cubicBezTo>
                  <a:lnTo>
                    <a:pt x="0" y="51921"/>
                  </a:lnTo>
                  <a:cubicBezTo>
                    <a:pt x="0" y="23246"/>
                    <a:pt x="23246" y="0"/>
                    <a:pt x="51921" y="0"/>
                  </a:cubicBezTo>
                  <a:close/>
                </a:path>
              </a:pathLst>
            </a:custGeom>
            <a:blipFill>
              <a:blip r:embed="rId2"/>
              <a:stretch>
                <a:fillRect l="-822" t="0" r="-822" b="0"/>
              </a:stretch>
            </a:blipFill>
          </p:spPr>
        </p:sp>
      </p:grpSp>
      <p:sp>
        <p:nvSpPr>
          <p:cNvPr name="TextBox 4" id="4"/>
          <p:cNvSpPr txBox="true"/>
          <p:nvPr/>
        </p:nvSpPr>
        <p:spPr>
          <a:xfrm rot="0">
            <a:off x="1028700" y="2233044"/>
            <a:ext cx="5326819" cy="2298586"/>
          </a:xfrm>
          <a:prstGeom prst="rect">
            <a:avLst/>
          </a:prstGeom>
        </p:spPr>
        <p:txBody>
          <a:bodyPr anchor="t" rtlCol="false" tIns="0" lIns="0" bIns="0" rIns="0">
            <a:spAutoFit/>
          </a:bodyPr>
          <a:lstStyle/>
          <a:p>
            <a:pPr algn="l" marL="0" indent="0" lvl="0">
              <a:lnSpc>
                <a:spcPts val="6040"/>
              </a:lnSpc>
            </a:pPr>
            <a:r>
              <a:rPr lang="en-US" sz="5490" spc="-329">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Power BI Dashboard Insights</a:t>
            </a:r>
          </a:p>
        </p:txBody>
      </p:sp>
      <p:sp>
        <p:nvSpPr>
          <p:cNvPr name="TextBox 5" id="5"/>
          <p:cNvSpPr txBox="true"/>
          <p:nvPr/>
        </p:nvSpPr>
        <p:spPr>
          <a:xfrm rot="0">
            <a:off x="1813812" y="5094651"/>
            <a:ext cx="7355010" cy="449548"/>
          </a:xfrm>
          <a:prstGeom prst="rect">
            <a:avLst/>
          </a:prstGeom>
        </p:spPr>
        <p:txBody>
          <a:bodyPr anchor="t" rtlCol="false" tIns="0" lIns="0" bIns="0" rIns="0">
            <a:spAutoFit/>
          </a:bodyPr>
          <a:lstStyle/>
          <a:p>
            <a:pPr algn="l" marL="0" indent="0" lvl="0">
              <a:lnSpc>
                <a:spcPts val="3462"/>
              </a:lnSpc>
            </a:pPr>
            <a:r>
              <a:rPr lang="en-US" b="true" sz="3147" spc="-94">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Overview Panel: Transactions &amp; Revenue</a:t>
            </a:r>
          </a:p>
        </p:txBody>
      </p:sp>
      <p:sp>
        <p:nvSpPr>
          <p:cNvPr name="TextBox 6" id="6"/>
          <p:cNvSpPr txBox="true"/>
          <p:nvPr/>
        </p:nvSpPr>
        <p:spPr>
          <a:xfrm rot="0">
            <a:off x="1813812" y="6708414"/>
            <a:ext cx="7355010" cy="449548"/>
          </a:xfrm>
          <a:prstGeom prst="rect">
            <a:avLst/>
          </a:prstGeom>
        </p:spPr>
        <p:txBody>
          <a:bodyPr anchor="t" rtlCol="false" tIns="0" lIns="0" bIns="0" rIns="0">
            <a:spAutoFit/>
          </a:bodyPr>
          <a:lstStyle/>
          <a:p>
            <a:pPr algn="l" marL="0" indent="0" lvl="0">
              <a:lnSpc>
                <a:spcPts val="3462"/>
              </a:lnSpc>
            </a:pPr>
            <a:r>
              <a:rPr lang="en-US" b="true" sz="3147" spc="-94">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Demographics Panel: Age &amp; Gender</a:t>
            </a:r>
          </a:p>
        </p:txBody>
      </p:sp>
      <p:sp>
        <p:nvSpPr>
          <p:cNvPr name="TextBox 7" id="7"/>
          <p:cNvSpPr txBox="true"/>
          <p:nvPr/>
        </p:nvSpPr>
        <p:spPr>
          <a:xfrm rot="0">
            <a:off x="1813812" y="5688874"/>
            <a:ext cx="5942904" cy="499110"/>
          </a:xfrm>
          <a:prstGeom prst="rect">
            <a:avLst/>
          </a:prstGeom>
        </p:spPr>
        <p:txBody>
          <a:bodyPr anchor="t" rtlCol="false" tIns="0" lIns="0" bIns="0" rIns="0">
            <a:spAutoFit/>
          </a:bodyPr>
          <a:lstStyle/>
          <a:p>
            <a:pPr algn="l" marL="0" indent="0" lvl="0">
              <a:lnSpc>
                <a:spcPts val="1980"/>
              </a:lnSpc>
            </a:pPr>
            <a:r>
              <a:rPr lang="en-US" sz="1800" spc="-53">
                <a:solidFill>
                  <a:srgbClr val="F8F8F8"/>
                </a:solidFill>
                <a:latin typeface="Inter"/>
                <a:ea typeface="Inter"/>
                <a:cs typeface="Inter"/>
                <a:sym typeface="Inter"/>
              </a:rPr>
              <a:t>Displays total transactions, revenue, category breakdown, and payment methods.</a:t>
            </a:r>
          </a:p>
        </p:txBody>
      </p:sp>
      <p:sp>
        <p:nvSpPr>
          <p:cNvPr name="TextBox 8" id="8"/>
          <p:cNvSpPr txBox="true"/>
          <p:nvPr/>
        </p:nvSpPr>
        <p:spPr>
          <a:xfrm rot="0">
            <a:off x="1813812" y="7302637"/>
            <a:ext cx="5942904" cy="499110"/>
          </a:xfrm>
          <a:prstGeom prst="rect">
            <a:avLst/>
          </a:prstGeom>
        </p:spPr>
        <p:txBody>
          <a:bodyPr anchor="t" rtlCol="false" tIns="0" lIns="0" bIns="0" rIns="0">
            <a:spAutoFit/>
          </a:bodyPr>
          <a:lstStyle/>
          <a:p>
            <a:pPr algn="l" marL="0" indent="0" lvl="0">
              <a:lnSpc>
                <a:spcPts val="1980"/>
              </a:lnSpc>
            </a:pPr>
            <a:r>
              <a:rPr lang="en-US" sz="1800" spc="-53">
                <a:solidFill>
                  <a:srgbClr val="F8F8F8"/>
                </a:solidFill>
                <a:latin typeface="Inter"/>
                <a:ea typeface="Inter"/>
                <a:cs typeface="Inter"/>
                <a:sym typeface="Inter"/>
              </a:rPr>
              <a:t>Covers age groups, gender distribution, shipping types, and review ratings.</a:t>
            </a:r>
          </a:p>
        </p:txBody>
      </p:sp>
      <p:sp>
        <p:nvSpPr>
          <p:cNvPr name="TextBox 9" id="9"/>
          <p:cNvSpPr txBox="true"/>
          <p:nvPr/>
        </p:nvSpPr>
        <p:spPr>
          <a:xfrm rot="0">
            <a:off x="1813812" y="8319272"/>
            <a:ext cx="7355010" cy="449548"/>
          </a:xfrm>
          <a:prstGeom prst="rect">
            <a:avLst/>
          </a:prstGeom>
        </p:spPr>
        <p:txBody>
          <a:bodyPr anchor="t" rtlCol="false" tIns="0" lIns="0" bIns="0" rIns="0">
            <a:spAutoFit/>
          </a:bodyPr>
          <a:lstStyle/>
          <a:p>
            <a:pPr algn="l" marL="0" indent="0" lvl="0">
              <a:lnSpc>
                <a:spcPts val="3462"/>
              </a:lnSpc>
            </a:pPr>
            <a:r>
              <a:rPr lang="en-US" b="true" sz="3147" spc="-94">
                <a:gradFill>
                  <a:gsLst>
                    <a:gs pos="0">
                      <a:srgbClr val="C1FF72">
                        <a:alpha val="100000"/>
                      </a:srgbClr>
                    </a:gs>
                    <a:gs pos="100000">
                      <a:srgbClr val="CEFFBC">
                        <a:alpha val="100000"/>
                      </a:srgbClr>
                    </a:gs>
                  </a:gsLst>
                  <a:path path="circle">
                    <a:fillToRect l="0" r="100000" t="0" b="100000"/>
                  </a:path>
                  <a:tileRect r="0" l="-100000" b="0" t="-100000"/>
                </a:gradFill>
                <a:latin typeface="Inter Semi-Bold"/>
                <a:ea typeface="Inter Semi-Bold"/>
                <a:cs typeface="Inter Semi-Bold"/>
                <a:sym typeface="Inter Semi-Bold"/>
              </a:rPr>
              <a:t>Drill-Down &amp; Filtering Capabilities</a:t>
            </a:r>
          </a:p>
        </p:txBody>
      </p:sp>
      <p:sp>
        <p:nvSpPr>
          <p:cNvPr name="TextBox 10" id="10"/>
          <p:cNvSpPr txBox="true"/>
          <p:nvPr/>
        </p:nvSpPr>
        <p:spPr>
          <a:xfrm rot="0">
            <a:off x="1813812" y="8913495"/>
            <a:ext cx="5942904" cy="499110"/>
          </a:xfrm>
          <a:prstGeom prst="rect">
            <a:avLst/>
          </a:prstGeom>
        </p:spPr>
        <p:txBody>
          <a:bodyPr anchor="t" rtlCol="false" tIns="0" lIns="0" bIns="0" rIns="0">
            <a:spAutoFit/>
          </a:bodyPr>
          <a:lstStyle/>
          <a:p>
            <a:pPr algn="l" marL="0" indent="0" lvl="0">
              <a:lnSpc>
                <a:spcPts val="1980"/>
              </a:lnSpc>
            </a:pPr>
            <a:r>
              <a:rPr lang="en-US" sz="1800" spc="-53">
                <a:solidFill>
                  <a:srgbClr val="F8F8F8"/>
                </a:solidFill>
                <a:latin typeface="Inter"/>
                <a:ea typeface="Inter"/>
                <a:cs typeface="Inter"/>
                <a:sym typeface="Inter"/>
              </a:rPr>
              <a:t>Enables dynamic filtering for actionable, data-driven retail decisions.</a:t>
            </a:r>
          </a:p>
        </p:txBody>
      </p:sp>
      <p:sp>
        <p:nvSpPr>
          <p:cNvPr name="TextBox 11" id="11"/>
          <p:cNvSpPr txBox="true"/>
          <p:nvPr/>
        </p:nvSpPr>
        <p:spPr>
          <a:xfrm rot="0">
            <a:off x="1028700" y="5137831"/>
            <a:ext cx="711294" cy="396927"/>
          </a:xfrm>
          <a:prstGeom prst="rect">
            <a:avLst/>
          </a:prstGeom>
        </p:spPr>
        <p:txBody>
          <a:bodyPr anchor="t" rtlCol="false" tIns="0" lIns="0" bIns="0" rIns="0">
            <a:spAutoFit/>
          </a:bodyPr>
          <a:lstStyle/>
          <a:p>
            <a:pPr algn="l" marL="0" indent="0" lvl="0">
              <a:lnSpc>
                <a:spcPts val="3029"/>
              </a:lnSpc>
            </a:pPr>
            <a:r>
              <a:rPr lang="en-US" sz="2754" spc="-82">
                <a:solidFill>
                  <a:srgbClr val="C1FF72"/>
                </a:solidFill>
                <a:latin typeface="Inter"/>
                <a:ea typeface="Inter"/>
                <a:cs typeface="Inter"/>
                <a:sym typeface="Inter"/>
              </a:rPr>
              <a:t>01</a:t>
            </a:r>
          </a:p>
        </p:txBody>
      </p:sp>
      <p:sp>
        <p:nvSpPr>
          <p:cNvPr name="TextBox 12" id="12"/>
          <p:cNvSpPr txBox="true"/>
          <p:nvPr/>
        </p:nvSpPr>
        <p:spPr>
          <a:xfrm rot="0">
            <a:off x="1028700" y="6725242"/>
            <a:ext cx="711294" cy="396927"/>
          </a:xfrm>
          <a:prstGeom prst="rect">
            <a:avLst/>
          </a:prstGeom>
        </p:spPr>
        <p:txBody>
          <a:bodyPr anchor="t" rtlCol="false" tIns="0" lIns="0" bIns="0" rIns="0">
            <a:spAutoFit/>
          </a:bodyPr>
          <a:lstStyle/>
          <a:p>
            <a:pPr algn="l" marL="0" indent="0" lvl="0">
              <a:lnSpc>
                <a:spcPts val="3029"/>
              </a:lnSpc>
            </a:pPr>
            <a:r>
              <a:rPr lang="en-US" sz="2754" spc="-82">
                <a:solidFill>
                  <a:srgbClr val="C1FF72"/>
                </a:solidFill>
                <a:latin typeface="Inter"/>
                <a:ea typeface="Inter"/>
                <a:cs typeface="Inter"/>
                <a:sym typeface="Inter"/>
              </a:rPr>
              <a:t>02</a:t>
            </a:r>
          </a:p>
        </p:txBody>
      </p:sp>
      <p:sp>
        <p:nvSpPr>
          <p:cNvPr name="TextBox 13" id="13"/>
          <p:cNvSpPr txBox="true"/>
          <p:nvPr/>
        </p:nvSpPr>
        <p:spPr>
          <a:xfrm rot="0">
            <a:off x="1028700" y="8310472"/>
            <a:ext cx="711294" cy="396927"/>
          </a:xfrm>
          <a:prstGeom prst="rect">
            <a:avLst/>
          </a:prstGeom>
        </p:spPr>
        <p:txBody>
          <a:bodyPr anchor="t" rtlCol="false" tIns="0" lIns="0" bIns="0" rIns="0">
            <a:spAutoFit/>
          </a:bodyPr>
          <a:lstStyle/>
          <a:p>
            <a:pPr algn="l" marL="0" indent="0" lvl="0">
              <a:lnSpc>
                <a:spcPts val="3029"/>
              </a:lnSpc>
            </a:pPr>
            <a:r>
              <a:rPr lang="en-US" sz="2754" spc="-82">
                <a:solidFill>
                  <a:srgbClr val="C1FF72"/>
                </a:solidFill>
                <a:latin typeface="Inter"/>
                <a:ea typeface="Inter"/>
                <a:cs typeface="Inter"/>
                <a:sym typeface="Inter"/>
              </a:rPr>
              <a:t>03</a:t>
            </a:r>
          </a:p>
        </p:txBody>
      </p:sp>
      <p:sp>
        <p:nvSpPr>
          <p:cNvPr name="TextBox 14" id="14"/>
          <p:cNvSpPr txBox="true"/>
          <p:nvPr/>
        </p:nvSpPr>
        <p:spPr>
          <a:xfrm rot="0">
            <a:off x="14935479" y="1066800"/>
            <a:ext cx="2323821" cy="207645"/>
          </a:xfrm>
          <a:prstGeom prst="rect">
            <a:avLst/>
          </a:prstGeom>
        </p:spPr>
        <p:txBody>
          <a:bodyPr anchor="t" rtlCol="false" tIns="0" lIns="0" bIns="0" rIns="0">
            <a:spAutoFit/>
          </a:bodyPr>
          <a:lstStyle/>
          <a:p>
            <a:pPr algn="r" marL="0" indent="0" lvl="0">
              <a:lnSpc>
                <a:spcPts val="1679"/>
              </a:lnSpc>
            </a:pPr>
            <a:r>
              <a:rPr lang="en-US" sz="1200">
                <a:solidFill>
                  <a:srgbClr val="F8F8F8"/>
                </a:solidFill>
                <a:latin typeface="Inter"/>
                <a:ea typeface="Inter"/>
                <a:cs typeface="Inter"/>
                <a:sym typeface="Inter"/>
              </a:rPr>
              <a:t>2026</a:t>
            </a:r>
          </a:p>
        </p:txBody>
      </p:sp>
      <p:sp>
        <p:nvSpPr>
          <p:cNvPr name="TextBox 15" id="15"/>
          <p:cNvSpPr txBox="true"/>
          <p:nvPr/>
        </p:nvSpPr>
        <p:spPr>
          <a:xfrm rot="0">
            <a:off x="6755761" y="1066800"/>
            <a:ext cx="4776478" cy="207645"/>
          </a:xfrm>
          <a:prstGeom prst="rect">
            <a:avLst/>
          </a:prstGeom>
        </p:spPr>
        <p:txBody>
          <a:bodyPr anchor="t" rtlCol="false" tIns="0" lIns="0" bIns="0" rIns="0">
            <a:spAutoFit/>
          </a:bodyPr>
          <a:lstStyle/>
          <a:p>
            <a:pPr algn="ctr" marL="0" indent="0" lvl="0">
              <a:lnSpc>
                <a:spcPts val="1679"/>
              </a:lnSpc>
            </a:pPr>
            <a:r>
              <a:rPr lang="en-US" sz="1200">
                <a:solidFill>
                  <a:srgbClr val="F8F8F8">
                    <a:alpha val="69804"/>
                  </a:srgbClr>
                </a:solidFill>
                <a:latin typeface="Inter"/>
                <a:ea typeface="Inter"/>
                <a:cs typeface="Inter"/>
                <a:sym typeface="Inter"/>
              </a:rPr>
              <a:t>Customer Shopping Behaviour Analysis Report</a:t>
            </a:r>
          </a:p>
        </p:txBody>
      </p:sp>
      <p:sp>
        <p:nvSpPr>
          <p:cNvPr name="TextBox 16" id="16"/>
          <p:cNvSpPr txBox="true"/>
          <p:nvPr/>
        </p:nvSpPr>
        <p:spPr>
          <a:xfrm rot="0">
            <a:off x="10073870" y="2344166"/>
            <a:ext cx="7185430" cy="461010"/>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F8F8F8"/>
                </a:solidFill>
                <a:latin typeface="Inter"/>
                <a:ea typeface="Inter"/>
                <a:cs typeface="Inter"/>
                <a:sym typeface="Inter"/>
              </a:rPr>
              <a:t>An interactive Power BI dashboard was developed to enable drill-down and filtering for actionable retail insights across 3,900 customer transactions.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TextBox 2" id="2"/>
          <p:cNvSpPr txBox="true"/>
          <p:nvPr/>
        </p:nvSpPr>
        <p:spPr>
          <a:xfrm rot="0">
            <a:off x="6755761" y="962025"/>
            <a:ext cx="4776478" cy="417195"/>
          </a:xfrm>
          <a:prstGeom prst="rect">
            <a:avLst/>
          </a:prstGeom>
        </p:spPr>
        <p:txBody>
          <a:bodyPr anchor="t" rtlCol="false" tIns="0" lIns="0" bIns="0" rIns="0">
            <a:spAutoFit/>
          </a:bodyPr>
          <a:lstStyle/>
          <a:p>
            <a:pPr algn="ctr" marL="0" indent="0" lvl="0">
              <a:lnSpc>
                <a:spcPts val="1679"/>
              </a:lnSpc>
            </a:pPr>
            <a:r>
              <a:rPr lang="en-US" sz="1200">
                <a:solidFill>
                  <a:srgbClr val="F8F8F8">
                    <a:alpha val="69804"/>
                  </a:srgbClr>
                </a:solidFill>
                <a:latin typeface="Inter"/>
                <a:ea typeface="Inter"/>
                <a:cs typeface="Inter"/>
                <a:sym typeface="Inter"/>
              </a:rPr>
              <a:t>Customer Shopping Behaviour Analysis - Retail Analytics Report 2026</a:t>
            </a:r>
          </a:p>
        </p:txBody>
      </p:sp>
      <p:sp>
        <p:nvSpPr>
          <p:cNvPr name="TextBox 3" id="3"/>
          <p:cNvSpPr txBox="true"/>
          <p:nvPr/>
        </p:nvSpPr>
        <p:spPr>
          <a:xfrm rot="0">
            <a:off x="1028700" y="2271144"/>
            <a:ext cx="6876867" cy="1360084"/>
          </a:xfrm>
          <a:prstGeom prst="rect">
            <a:avLst/>
          </a:prstGeom>
        </p:spPr>
        <p:txBody>
          <a:bodyPr anchor="t" rtlCol="false" tIns="0" lIns="0" bIns="0" rIns="0">
            <a:spAutoFit/>
          </a:bodyPr>
          <a:lstStyle/>
          <a:p>
            <a:pPr algn="l" marL="0" indent="0" lvl="0">
              <a:lnSpc>
                <a:spcPts val="10552"/>
              </a:lnSpc>
            </a:pPr>
            <a:r>
              <a:rPr lang="en-US" sz="9593" spc="-575">
                <a:gradFill>
                  <a:gsLst>
                    <a:gs pos="0">
                      <a:srgbClr val="C1FF72">
                        <a:alpha val="100000"/>
                      </a:srgbClr>
                    </a:gs>
                    <a:gs pos="100000">
                      <a:srgbClr val="CEFFBC">
                        <a:alpha val="100000"/>
                      </a:srgbClr>
                    </a:gs>
                  </a:gsLst>
                  <a:path path="circle">
                    <a:fillToRect l="0" r="100000" t="0" b="100000"/>
                  </a:path>
                  <a:tileRect r="0" l="-100000" b="0" t="-100000"/>
                </a:gradFill>
                <a:latin typeface="Inter"/>
                <a:ea typeface="Inter"/>
                <a:cs typeface="Inter"/>
                <a:sym typeface="Inter"/>
              </a:rPr>
              <a:t>Conclusions</a:t>
            </a:r>
          </a:p>
        </p:txBody>
      </p:sp>
      <p:grpSp>
        <p:nvGrpSpPr>
          <p:cNvPr name="Group 4" id="4"/>
          <p:cNvGrpSpPr/>
          <p:nvPr/>
        </p:nvGrpSpPr>
        <p:grpSpPr>
          <a:xfrm rot="0">
            <a:off x="9521203" y="2175894"/>
            <a:ext cx="7738097" cy="7082406"/>
            <a:chOff x="0" y="0"/>
            <a:chExt cx="1231332" cy="1126995"/>
          </a:xfrm>
        </p:grpSpPr>
        <p:sp>
          <p:nvSpPr>
            <p:cNvPr name="Freeform 5" id="5"/>
            <p:cNvSpPr/>
            <p:nvPr/>
          </p:nvSpPr>
          <p:spPr>
            <a:xfrm flipH="false" flipV="false" rot="0">
              <a:off x="0" y="0"/>
              <a:ext cx="1231332" cy="1126995"/>
            </a:xfrm>
            <a:custGeom>
              <a:avLst/>
              <a:gdLst/>
              <a:ahLst/>
              <a:cxnLst/>
              <a:rect r="r" b="b" t="t" l="l"/>
              <a:pathLst>
                <a:path h="1126995" w="1231332">
                  <a:moveTo>
                    <a:pt x="50025" y="0"/>
                  </a:moveTo>
                  <a:lnTo>
                    <a:pt x="1181307" y="0"/>
                  </a:lnTo>
                  <a:cubicBezTo>
                    <a:pt x="1208935" y="0"/>
                    <a:pt x="1231332" y="22397"/>
                    <a:pt x="1231332" y="50025"/>
                  </a:cubicBezTo>
                  <a:lnTo>
                    <a:pt x="1231332" y="1076970"/>
                  </a:lnTo>
                  <a:cubicBezTo>
                    <a:pt x="1231332" y="1104598"/>
                    <a:pt x="1208935" y="1126995"/>
                    <a:pt x="1181307" y="1126995"/>
                  </a:cubicBezTo>
                  <a:lnTo>
                    <a:pt x="50025" y="1126995"/>
                  </a:lnTo>
                  <a:cubicBezTo>
                    <a:pt x="22397" y="1126995"/>
                    <a:pt x="0" y="1104598"/>
                    <a:pt x="0" y="1076970"/>
                  </a:cubicBezTo>
                  <a:lnTo>
                    <a:pt x="0" y="50025"/>
                  </a:lnTo>
                  <a:cubicBezTo>
                    <a:pt x="0" y="22397"/>
                    <a:pt x="22397" y="0"/>
                    <a:pt x="50025" y="0"/>
                  </a:cubicBezTo>
                  <a:close/>
                </a:path>
              </a:pathLst>
            </a:custGeom>
            <a:blipFill>
              <a:blip r:embed="rId2"/>
              <a:stretch>
                <a:fillRect l="0" t="-4629" r="0" b="-4629"/>
              </a:stretch>
            </a:blipFill>
          </p:spPr>
        </p:sp>
      </p:grpSp>
      <p:grpSp>
        <p:nvGrpSpPr>
          <p:cNvPr name="Group 6" id="6"/>
          <p:cNvGrpSpPr/>
          <p:nvPr/>
        </p:nvGrpSpPr>
        <p:grpSpPr>
          <a:xfrm rot="0">
            <a:off x="1028700" y="5443503"/>
            <a:ext cx="12815472" cy="3814797"/>
            <a:chOff x="0" y="0"/>
            <a:chExt cx="4195385" cy="1248845"/>
          </a:xfrm>
        </p:grpSpPr>
        <p:sp>
          <p:nvSpPr>
            <p:cNvPr name="Freeform 7" id="7"/>
            <p:cNvSpPr/>
            <p:nvPr/>
          </p:nvSpPr>
          <p:spPr>
            <a:xfrm flipH="false" flipV="false" rot="0">
              <a:off x="0" y="0"/>
              <a:ext cx="4195385" cy="1248845"/>
            </a:xfrm>
            <a:custGeom>
              <a:avLst/>
              <a:gdLst/>
              <a:ahLst/>
              <a:cxnLst/>
              <a:rect r="r" b="b" t="t" l="l"/>
              <a:pathLst>
                <a:path h="1248845" w="4195385">
                  <a:moveTo>
                    <a:pt x="30205" y="0"/>
                  </a:moveTo>
                  <a:lnTo>
                    <a:pt x="4165180" y="0"/>
                  </a:lnTo>
                  <a:cubicBezTo>
                    <a:pt x="4173191" y="0"/>
                    <a:pt x="4180874" y="3182"/>
                    <a:pt x="4186539" y="8847"/>
                  </a:cubicBezTo>
                  <a:cubicBezTo>
                    <a:pt x="4192203" y="14512"/>
                    <a:pt x="4195385" y="22194"/>
                    <a:pt x="4195385" y="30205"/>
                  </a:cubicBezTo>
                  <a:lnTo>
                    <a:pt x="4195385" y="1218640"/>
                  </a:lnTo>
                  <a:cubicBezTo>
                    <a:pt x="4195385" y="1226651"/>
                    <a:pt x="4192203" y="1234334"/>
                    <a:pt x="4186539" y="1239998"/>
                  </a:cubicBezTo>
                  <a:cubicBezTo>
                    <a:pt x="4180874" y="1245663"/>
                    <a:pt x="4173191" y="1248845"/>
                    <a:pt x="4165180" y="1248845"/>
                  </a:cubicBezTo>
                  <a:lnTo>
                    <a:pt x="30205" y="1248845"/>
                  </a:lnTo>
                  <a:cubicBezTo>
                    <a:pt x="22194" y="1248845"/>
                    <a:pt x="14512" y="1245663"/>
                    <a:pt x="8847" y="1239998"/>
                  </a:cubicBezTo>
                  <a:cubicBezTo>
                    <a:pt x="3182" y="1234334"/>
                    <a:pt x="0" y="1226651"/>
                    <a:pt x="0" y="1218640"/>
                  </a:cubicBezTo>
                  <a:lnTo>
                    <a:pt x="0" y="30205"/>
                  </a:lnTo>
                  <a:cubicBezTo>
                    <a:pt x="0" y="22194"/>
                    <a:pt x="3182" y="14512"/>
                    <a:pt x="8847" y="8847"/>
                  </a:cubicBezTo>
                  <a:cubicBezTo>
                    <a:pt x="14512" y="3182"/>
                    <a:pt x="22194" y="0"/>
                    <a:pt x="30205" y="0"/>
                  </a:cubicBezTo>
                  <a:close/>
                </a:path>
              </a:pathLst>
            </a:custGeom>
            <a:gradFill rotWithShape="true">
              <a:gsLst>
                <a:gs pos="0">
                  <a:srgbClr val="C1FF72">
                    <a:alpha val="100000"/>
                  </a:srgbClr>
                </a:gs>
                <a:gs pos="100000">
                  <a:srgbClr val="CEFFBC">
                    <a:alpha val="100000"/>
                  </a:srgbClr>
                </a:gs>
              </a:gsLst>
              <a:path path="circle">
                <a:fillToRect l="0" r="100000" t="0" b="100000"/>
              </a:path>
              <a:tileRect r="0" l="-100000" b="0" t="-100000"/>
            </a:gradFill>
          </p:spPr>
        </p:sp>
        <p:sp>
          <p:nvSpPr>
            <p:cNvPr name="TextBox 8" id="8"/>
            <p:cNvSpPr txBox="true"/>
            <p:nvPr/>
          </p:nvSpPr>
          <p:spPr>
            <a:xfrm>
              <a:off x="0" y="-38100"/>
              <a:ext cx="4195385" cy="1286945"/>
            </a:xfrm>
            <a:prstGeom prst="rect">
              <a:avLst/>
            </a:prstGeom>
          </p:spPr>
          <p:txBody>
            <a:bodyPr anchor="ctr" rtlCol="false" tIns="50800" lIns="50800" bIns="50800" rIns="50800"/>
            <a:lstStyle/>
            <a:p>
              <a:pPr algn="ctr" marL="0" indent="0" lvl="0">
                <a:lnSpc>
                  <a:spcPts val="2520"/>
                </a:lnSpc>
              </a:pPr>
            </a:p>
          </p:txBody>
        </p:sp>
      </p:grpSp>
      <p:sp>
        <p:nvSpPr>
          <p:cNvPr name="Freeform 9" id="9"/>
          <p:cNvSpPr/>
          <p:nvPr/>
        </p:nvSpPr>
        <p:spPr>
          <a:xfrm flipH="false" flipV="false" rot="0">
            <a:off x="1979971" y="7181372"/>
            <a:ext cx="392901" cy="399392"/>
          </a:xfrm>
          <a:custGeom>
            <a:avLst/>
            <a:gdLst/>
            <a:ahLst/>
            <a:cxnLst/>
            <a:rect r="r" b="b" t="t" l="l"/>
            <a:pathLst>
              <a:path h="399392" w="392901">
                <a:moveTo>
                  <a:pt x="0" y="0"/>
                </a:moveTo>
                <a:lnTo>
                  <a:pt x="392901" y="0"/>
                </a:lnTo>
                <a:lnTo>
                  <a:pt x="392901" y="399391"/>
                </a:lnTo>
                <a:lnTo>
                  <a:pt x="0" y="399391"/>
                </a:lnTo>
                <a:lnTo>
                  <a:pt x="0" y="0"/>
                </a:lnTo>
                <a:close/>
              </a:path>
            </a:pathLst>
          </a:custGeom>
          <a:blipFill>
            <a:blip r:embed="rId3"/>
            <a:stretch>
              <a:fillRect l="0" t="0" r="0" b="0"/>
            </a:stretch>
          </a:blipFill>
        </p:spPr>
      </p:sp>
      <p:sp>
        <p:nvSpPr>
          <p:cNvPr name="Freeform 10" id="10"/>
          <p:cNvSpPr/>
          <p:nvPr/>
        </p:nvSpPr>
        <p:spPr>
          <a:xfrm flipH="false" flipV="false" rot="0">
            <a:off x="1975889" y="8000152"/>
            <a:ext cx="400759" cy="394748"/>
          </a:xfrm>
          <a:custGeom>
            <a:avLst/>
            <a:gdLst/>
            <a:ahLst/>
            <a:cxnLst/>
            <a:rect r="r" b="b" t="t" l="l"/>
            <a:pathLst>
              <a:path h="394748" w="400759">
                <a:moveTo>
                  <a:pt x="0" y="0"/>
                </a:moveTo>
                <a:lnTo>
                  <a:pt x="400759" y="0"/>
                </a:lnTo>
                <a:lnTo>
                  <a:pt x="400759" y="394748"/>
                </a:lnTo>
                <a:lnTo>
                  <a:pt x="0" y="394748"/>
                </a:lnTo>
                <a:lnTo>
                  <a:pt x="0" y="0"/>
                </a:lnTo>
                <a:close/>
              </a:path>
            </a:pathLst>
          </a:custGeom>
          <a:blipFill>
            <a:blip r:embed="rId4"/>
            <a:stretch>
              <a:fillRect l="0" t="0" r="0" b="0"/>
            </a:stretch>
          </a:blipFill>
        </p:spPr>
      </p:sp>
      <p:sp>
        <p:nvSpPr>
          <p:cNvPr name="Freeform 11" id="11"/>
          <p:cNvSpPr/>
          <p:nvPr/>
        </p:nvSpPr>
        <p:spPr>
          <a:xfrm flipH="false" flipV="false" rot="0">
            <a:off x="7817111" y="7207727"/>
            <a:ext cx="412547" cy="392488"/>
          </a:xfrm>
          <a:custGeom>
            <a:avLst/>
            <a:gdLst/>
            <a:ahLst/>
            <a:cxnLst/>
            <a:rect r="r" b="b" t="t" l="l"/>
            <a:pathLst>
              <a:path h="392488" w="412547">
                <a:moveTo>
                  <a:pt x="0" y="0"/>
                </a:moveTo>
                <a:lnTo>
                  <a:pt x="412546" y="0"/>
                </a:lnTo>
                <a:lnTo>
                  <a:pt x="412546" y="392488"/>
                </a:lnTo>
                <a:lnTo>
                  <a:pt x="0" y="392488"/>
                </a:lnTo>
                <a:lnTo>
                  <a:pt x="0" y="0"/>
                </a:lnTo>
                <a:close/>
              </a:path>
            </a:pathLst>
          </a:custGeom>
          <a:blipFill>
            <a:blip r:embed="rId5"/>
            <a:stretch>
              <a:fillRect l="0" t="0" r="0" b="0"/>
            </a:stretch>
          </a:blipFill>
        </p:spPr>
      </p:sp>
      <p:sp>
        <p:nvSpPr>
          <p:cNvPr name="Freeform 12" id="12"/>
          <p:cNvSpPr/>
          <p:nvPr/>
        </p:nvSpPr>
        <p:spPr>
          <a:xfrm flipH="false" flipV="false" rot="0">
            <a:off x="7826841" y="8027131"/>
            <a:ext cx="392901" cy="391868"/>
          </a:xfrm>
          <a:custGeom>
            <a:avLst/>
            <a:gdLst/>
            <a:ahLst/>
            <a:cxnLst/>
            <a:rect r="r" b="b" t="t" l="l"/>
            <a:pathLst>
              <a:path h="391868" w="392901">
                <a:moveTo>
                  <a:pt x="0" y="0"/>
                </a:moveTo>
                <a:lnTo>
                  <a:pt x="392902" y="0"/>
                </a:lnTo>
                <a:lnTo>
                  <a:pt x="392902" y="391868"/>
                </a:lnTo>
                <a:lnTo>
                  <a:pt x="0" y="391868"/>
                </a:lnTo>
                <a:lnTo>
                  <a:pt x="0" y="0"/>
                </a:lnTo>
                <a:close/>
              </a:path>
            </a:pathLst>
          </a:custGeom>
          <a:blipFill>
            <a:blip r:embed="rId6"/>
            <a:stretch>
              <a:fillRect l="0" t="0" r="0" b="0"/>
            </a:stretch>
          </a:blipFill>
        </p:spPr>
      </p:sp>
      <p:sp>
        <p:nvSpPr>
          <p:cNvPr name="TextBox 13" id="13"/>
          <p:cNvSpPr txBox="true"/>
          <p:nvPr/>
        </p:nvSpPr>
        <p:spPr>
          <a:xfrm rot="0">
            <a:off x="2739284" y="7977576"/>
            <a:ext cx="4725532" cy="209550"/>
          </a:xfrm>
          <a:prstGeom prst="rect">
            <a:avLst/>
          </a:prstGeom>
        </p:spPr>
        <p:txBody>
          <a:bodyPr anchor="t" rtlCol="false" tIns="0" lIns="0" bIns="0" rIns="0">
            <a:spAutoFit/>
          </a:bodyPr>
          <a:lstStyle/>
          <a:p>
            <a:pPr algn="l" marL="0" indent="0" lvl="0">
              <a:lnSpc>
                <a:spcPts val="1671"/>
              </a:lnSpc>
            </a:pPr>
            <a:r>
              <a:rPr lang="en-US" b="true" sz="1393" spc="-41">
                <a:solidFill>
                  <a:srgbClr val="000000"/>
                </a:solidFill>
                <a:latin typeface="Inter Semi-Bold"/>
                <a:ea typeface="Inter Semi-Bold"/>
                <a:cs typeface="Inter Semi-Bold"/>
                <a:sym typeface="Inter Semi-Bold"/>
              </a:rPr>
              <a:t>Refine promotional strategies (43% use discounts)</a:t>
            </a:r>
          </a:p>
        </p:txBody>
      </p:sp>
      <p:sp>
        <p:nvSpPr>
          <p:cNvPr name="TextBox 14" id="14"/>
          <p:cNvSpPr txBox="true"/>
          <p:nvPr/>
        </p:nvSpPr>
        <p:spPr>
          <a:xfrm rot="0">
            <a:off x="8586276" y="7185104"/>
            <a:ext cx="5257897" cy="209550"/>
          </a:xfrm>
          <a:prstGeom prst="rect">
            <a:avLst/>
          </a:prstGeom>
        </p:spPr>
        <p:txBody>
          <a:bodyPr anchor="t" rtlCol="false" tIns="0" lIns="0" bIns="0" rIns="0">
            <a:spAutoFit/>
          </a:bodyPr>
          <a:lstStyle/>
          <a:p>
            <a:pPr algn="l" marL="0" indent="0" lvl="0">
              <a:lnSpc>
                <a:spcPts val="1671"/>
              </a:lnSpc>
            </a:pPr>
            <a:r>
              <a:rPr lang="en-US" b="true" sz="1393" spc="-41">
                <a:solidFill>
                  <a:srgbClr val="000000"/>
                </a:solidFill>
                <a:latin typeface="Inter Semi-Bold"/>
                <a:ea typeface="Inter Semi-Bold"/>
                <a:cs typeface="Inter Semi-Bold"/>
                <a:sym typeface="Inter Semi-Bold"/>
              </a:rPr>
              <a:t>Maintain diverse payment &amp; shipping options</a:t>
            </a:r>
          </a:p>
        </p:txBody>
      </p:sp>
      <p:sp>
        <p:nvSpPr>
          <p:cNvPr name="TextBox 15" id="15"/>
          <p:cNvSpPr txBox="true"/>
          <p:nvPr/>
        </p:nvSpPr>
        <p:spPr>
          <a:xfrm rot="0">
            <a:off x="8586276" y="8012182"/>
            <a:ext cx="5257897" cy="209550"/>
          </a:xfrm>
          <a:prstGeom prst="rect">
            <a:avLst/>
          </a:prstGeom>
        </p:spPr>
        <p:txBody>
          <a:bodyPr anchor="t" rtlCol="false" tIns="0" lIns="0" bIns="0" rIns="0">
            <a:spAutoFit/>
          </a:bodyPr>
          <a:lstStyle/>
          <a:p>
            <a:pPr algn="l" marL="0" indent="0" lvl="0">
              <a:lnSpc>
                <a:spcPts val="1671"/>
              </a:lnSpc>
            </a:pPr>
            <a:r>
              <a:rPr lang="en-US" b="true" sz="1393" spc="-41">
                <a:solidFill>
                  <a:srgbClr val="000000"/>
                </a:solidFill>
                <a:latin typeface="Inter Semi-Bold"/>
                <a:ea typeface="Inter Semi-Bold"/>
                <a:cs typeface="Inter Semi-Bold"/>
                <a:sym typeface="Inter Semi-Bold"/>
              </a:rPr>
              <a:t>Plan steady inventory for year-round demand</a:t>
            </a:r>
          </a:p>
        </p:txBody>
      </p:sp>
      <p:sp>
        <p:nvSpPr>
          <p:cNvPr name="TextBox 16" id="16"/>
          <p:cNvSpPr txBox="true"/>
          <p:nvPr/>
        </p:nvSpPr>
        <p:spPr>
          <a:xfrm rot="0">
            <a:off x="2739284" y="7162653"/>
            <a:ext cx="3702166" cy="209550"/>
          </a:xfrm>
          <a:prstGeom prst="rect">
            <a:avLst/>
          </a:prstGeom>
        </p:spPr>
        <p:txBody>
          <a:bodyPr anchor="t" rtlCol="false" tIns="0" lIns="0" bIns="0" rIns="0">
            <a:spAutoFit/>
          </a:bodyPr>
          <a:lstStyle/>
          <a:p>
            <a:pPr algn="l" marL="0" indent="0" lvl="0">
              <a:lnSpc>
                <a:spcPts val="1671"/>
              </a:lnSpc>
            </a:pPr>
            <a:r>
              <a:rPr lang="en-US" b="true" sz="1393" spc="-41">
                <a:solidFill>
                  <a:srgbClr val="000000"/>
                </a:solidFill>
                <a:latin typeface="Inter Semi-Bold"/>
                <a:ea typeface="Inter Semi-Bold"/>
                <a:cs typeface="Inter Semi-Bold"/>
                <a:sym typeface="Inter Semi-Bold"/>
              </a:rPr>
              <a:t>Grow loyalty programs (only 27% subscribers)</a:t>
            </a:r>
          </a:p>
        </p:txBody>
      </p:sp>
      <p:sp>
        <p:nvSpPr>
          <p:cNvPr name="TextBox 17" id="17"/>
          <p:cNvSpPr txBox="true"/>
          <p:nvPr/>
        </p:nvSpPr>
        <p:spPr>
          <a:xfrm rot="0">
            <a:off x="1979774" y="6221390"/>
            <a:ext cx="4551482" cy="257175"/>
          </a:xfrm>
          <a:prstGeom prst="rect">
            <a:avLst/>
          </a:prstGeom>
        </p:spPr>
        <p:txBody>
          <a:bodyPr anchor="t" rtlCol="false" tIns="0" lIns="0" bIns="0" rIns="0">
            <a:spAutoFit/>
          </a:bodyPr>
          <a:lstStyle/>
          <a:p>
            <a:pPr algn="l" marL="0" indent="0" lvl="0">
              <a:lnSpc>
                <a:spcPts val="1950"/>
              </a:lnSpc>
            </a:pPr>
            <a:r>
              <a:rPr lang="en-US" b="true" sz="1625" spc="-48">
                <a:solidFill>
                  <a:srgbClr val="000000"/>
                </a:solidFill>
                <a:latin typeface="Inter Semi-Bold"/>
                <a:ea typeface="Inter Semi-Bold"/>
                <a:cs typeface="Inter Semi-Bold"/>
                <a:sym typeface="Inter Semi-Bold"/>
              </a:rPr>
              <a:t>Key Recommendations:</a:t>
            </a:r>
          </a:p>
        </p:txBody>
      </p:sp>
      <p:sp>
        <p:nvSpPr>
          <p:cNvPr name="TextBox 18" id="18"/>
          <p:cNvSpPr txBox="true"/>
          <p:nvPr/>
        </p:nvSpPr>
        <p:spPr>
          <a:xfrm rot="0">
            <a:off x="14935479" y="1066800"/>
            <a:ext cx="2323821" cy="207645"/>
          </a:xfrm>
          <a:prstGeom prst="rect">
            <a:avLst/>
          </a:prstGeom>
        </p:spPr>
        <p:txBody>
          <a:bodyPr anchor="t" rtlCol="false" tIns="0" lIns="0" bIns="0" rIns="0">
            <a:spAutoFit/>
          </a:bodyPr>
          <a:lstStyle/>
          <a:p>
            <a:pPr algn="r" marL="0" indent="0" lvl="0">
              <a:lnSpc>
                <a:spcPts val="1679"/>
              </a:lnSpc>
            </a:pPr>
            <a:r>
              <a:rPr lang="en-US" sz="1200">
                <a:solidFill>
                  <a:srgbClr val="F8F8F8"/>
                </a:solidFill>
                <a:latin typeface="Inter"/>
                <a:ea typeface="Inter"/>
                <a:cs typeface="Inter"/>
                <a:sym typeface="Inter"/>
              </a:rPr>
              <a:t>2026</a:t>
            </a:r>
          </a:p>
        </p:txBody>
      </p:sp>
      <p:sp>
        <p:nvSpPr>
          <p:cNvPr name="TextBox 19" id="19"/>
          <p:cNvSpPr txBox="true"/>
          <p:nvPr/>
        </p:nvSpPr>
        <p:spPr>
          <a:xfrm rot="0">
            <a:off x="1028700" y="3884246"/>
            <a:ext cx="6876867" cy="699135"/>
          </a:xfrm>
          <a:prstGeom prst="rect">
            <a:avLst/>
          </a:prstGeom>
        </p:spPr>
        <p:txBody>
          <a:bodyPr anchor="t" rtlCol="false" tIns="0" lIns="0" bIns="0" rIns="0">
            <a:spAutoFit/>
          </a:bodyPr>
          <a:lstStyle/>
          <a:p>
            <a:pPr algn="l" marL="0" indent="0" lvl="0">
              <a:lnSpc>
                <a:spcPts val="1889"/>
              </a:lnSpc>
              <a:spcBef>
                <a:spcPct val="0"/>
              </a:spcBef>
            </a:pPr>
            <a:r>
              <a:rPr lang="en-US" sz="1350">
                <a:solidFill>
                  <a:srgbClr val="F8F8F8"/>
                </a:solidFill>
                <a:latin typeface="Inter"/>
                <a:ea typeface="Inter"/>
                <a:cs typeface="Inter"/>
                <a:sym typeface="Inter"/>
              </a:rPr>
              <a:t>Clothing leads at 44.5% of transactions with consistent avg. purchase amounts across all categories and seasons. Balanced payment and shipping preferences confirm customer choice is essential. Year-round demand supports steady inventory planning.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DAHLgbTke50</dc:identifier>
  <dcterms:modified xsi:type="dcterms:W3CDTF">2011-08-01T06:04:30Z</dcterms:modified>
  <cp:revision>1</cp:revision>
  <dc:title>10-Slide Project Presentation</dc:title>
</cp:coreProperties>
</file>